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B67F2C7-E277-495E-AD0F-626B15EC63A6}">
  <a:tblStyle styleId="{AB67F2C7-E277-495E-AD0F-626B15EC63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ae1f9a7_3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ae1f9a7_3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126320e91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126320e91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26320e914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26320e914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26320e914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26320e914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126320e914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126320e914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c147b83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9c147b83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8c894a4d12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8c894a4d12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126320e914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126320e914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4a4924486_3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4a4924486_3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26320e9147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26320e9147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2f9ff53f0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12f9ff53f0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26320e9147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26320e9147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5f23d62f94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5f23d62f94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ed5e07c0a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ed5e07c0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744fcb16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744fcb16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5b0a64b87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25b0a64b87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11ffc17850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11ffc17850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5b0a64b870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5b0a64b870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60d82e81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260d82e81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a04622ea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2a04622ea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25f23d62f9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25f23d62f9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cc858d6e6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2cc858d6e6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3985d0d2d4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3985d0d2d4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26320e9147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26320e9147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126320e9147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126320e9147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26320e9147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26320e9147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126320e9147_0_2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126320e9147_0_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3985d0d2d4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3985d0d2d4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3985d0d2d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3985d0d2d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3985d0d2d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3985d0d2d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uni1.de/amos" TargetMode="External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oss.cs.fau.de/teaching/course-resources/grading-schemes-and-scales/" TargetMode="External"/><Relationship Id="rId4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docs.google.com/spreadsheets/d/1ywwRYi-hR8zlmhw5JgHwO6tEWYiIA5teDnMdMka0WM4/edit?usp=drive_link" TargetMode="External"/><Relationship Id="rId4" Type="http://schemas.openxmlformats.org/officeDocument/2006/relationships/hyperlink" Target="https://docs.google.com/document/d/15UE9_KpxWkXxJbOkW2SX-o07DSQ0UipXpjyIBkyYnC0/edit?usp=drive_link" TargetMode="External"/><Relationship Id="rId5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oo.uni1.de" TargetMode="External"/><Relationship Id="rId4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oss.cs.fau.de/2012/03/10/english-or-german-deutsch-oder-englisch/" TargetMode="External"/><Relationship Id="rId4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mos.uni1.de" TargetMode="External"/><Relationship Id="rId4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AMOS [1]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A01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95" name="Google Shape;95;p15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Agile Methods and Open Source a.k.a. The AMOS Project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Goals 1 / 2 [1] [2] [3] [4]</a:t>
            </a:r>
            <a:endParaRPr/>
          </a:p>
        </p:txBody>
      </p:sp>
      <p:sp>
        <p:nvSpPr>
          <p:cNvPr id="101" name="Google Shape;101;p16"/>
          <p:cNvSpPr txBox="1"/>
          <p:nvPr>
            <p:ph idx="4294967295" type="body"/>
          </p:nvPr>
        </p:nvSpPr>
        <p:spPr>
          <a:xfrm>
            <a:off x="274320" y="914400"/>
            <a:ext cx="8595300" cy="3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731520" marR="73152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3200">
                <a:solidFill>
                  <a:srgbClr val="212121"/>
                </a:solidFill>
              </a:rPr>
              <a:t>Create useful </a:t>
            </a:r>
            <a:r>
              <a:rPr b="1" lang="en" sz="3200">
                <a:solidFill>
                  <a:schemeClr val="accent6"/>
                </a:solidFill>
              </a:rPr>
              <a:t>open-source software </a:t>
            </a:r>
            <a:r>
              <a:rPr b="1" lang="en" sz="3200">
                <a:solidFill>
                  <a:srgbClr val="212121"/>
                </a:solidFill>
              </a:rPr>
              <a:t>and</a:t>
            </a:r>
            <a:r>
              <a:rPr b="1" lang="en" sz="3200">
                <a:solidFill>
                  <a:srgbClr val="212121"/>
                </a:solidFill>
              </a:rPr>
              <a:t> learn </a:t>
            </a:r>
            <a:r>
              <a:rPr b="1" lang="en" sz="3200">
                <a:solidFill>
                  <a:schemeClr val="accent6"/>
                </a:solidFill>
              </a:rPr>
              <a:t>agile methods</a:t>
            </a:r>
            <a:br>
              <a:rPr b="1" lang="en" sz="3200">
                <a:solidFill>
                  <a:srgbClr val="212121"/>
                </a:solidFill>
              </a:rPr>
            </a:br>
            <a:r>
              <a:rPr b="1" lang="en" sz="3200">
                <a:solidFill>
                  <a:srgbClr val="212121"/>
                </a:solidFill>
              </a:rPr>
              <a:t>in</a:t>
            </a:r>
            <a:r>
              <a:rPr b="1" lang="en" sz="3200">
                <a:solidFill>
                  <a:srgbClr val="212121"/>
                </a:solidFill>
              </a:rPr>
              <a:t> </a:t>
            </a:r>
            <a:r>
              <a:rPr b="1" lang="en" sz="3200">
                <a:solidFill>
                  <a:srgbClr val="212121"/>
                </a:solidFill>
              </a:rPr>
              <a:t>a </a:t>
            </a:r>
            <a:r>
              <a:rPr b="1" lang="en" sz="3200">
                <a:solidFill>
                  <a:schemeClr val="accent6"/>
                </a:solidFill>
              </a:rPr>
              <a:t>Scrum team</a:t>
            </a:r>
            <a:endParaRPr b="1" sz="3200">
              <a:solidFill>
                <a:schemeClr val="accent6"/>
              </a:solidFill>
            </a:endParaRPr>
          </a:p>
        </p:txBody>
      </p:sp>
      <p:sp>
        <p:nvSpPr>
          <p:cNvPr id="102" name="Google Shape;102;p16"/>
          <p:cNvSpPr txBox="1"/>
          <p:nvPr/>
        </p:nvSpPr>
        <p:spPr>
          <a:xfrm>
            <a:off x="-25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Professional = ambition + collaboration with external partner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Agile methods = our focus here, specifically Scrum + XP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We teach both overall processes as well as best practices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[4] Useful software is software that has value to someone!</a:t>
            </a:r>
            <a:endParaRPr/>
          </a:p>
        </p:txBody>
      </p:sp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Goals 2 / 2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Learning objectives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Gain conceptual understanding and practical skills of using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agile software development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 project management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 development tools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how to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with an external stakeholder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a (student) project team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Project objectives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Develop useful open-source software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a great demo on demo-day!</a:t>
            </a:r>
            <a:endParaRPr/>
          </a:p>
        </p:txBody>
      </p:sp>
      <p:sp>
        <p:nvSpPr>
          <p:cNvPr id="110" name="Google Shape;110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Industry Partners</a:t>
            </a:r>
            <a:endParaRPr/>
          </a:p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17" name="Google Shape;11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1" cy="3543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Semester’s Projects</a:t>
            </a:r>
            <a:endParaRPr/>
          </a:p>
        </p:txBody>
      </p:sp>
      <p:sp>
        <p:nvSpPr>
          <p:cNvPr id="128" name="Google Shape;128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Zero Downtime Linux Updates with Weber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Automated Thematic Analysis with N.I.M.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AIlixir Intelligence with Zink (startup)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TaskOrbit Conversational Agent with Meisterwerk</a:t>
            </a:r>
            <a:endParaRPr/>
          </a:p>
        </p:txBody>
      </p:sp>
      <p:sp>
        <p:nvSpPr>
          <p:cNvPr id="129" name="Google Shape;129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Position in Curriculum</a:t>
            </a:r>
            <a:endParaRPr/>
          </a:p>
        </p:txBody>
      </p:sp>
      <p:sp>
        <p:nvSpPr>
          <p:cNvPr id="135" name="Google Shape;135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36" name="Google Shape;136;p21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{AB67F2C7-E277-495E-AD0F-626B15EC63A6}</a:tableStyleId>
              </a:tblPr>
              <a:tblGrid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</a:tblGrid>
              <a:tr h="457200">
                <a:tc gridSpan="6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Bachelor’s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Master’s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5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6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ADAP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Required for Course</a:t>
            </a:r>
            <a:endParaRPr/>
          </a:p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General skills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Willingness and ability to work in a team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Ability to acquire skills during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Role-specific skills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 (PO)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Strong conceptual thinking, ability to communicate well, affinity to technology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developer (SD)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Technology (specific to project), development tools like git, test-driven development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Scrum Master (SM)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Past successful experience as an AMOS product owner or software developer</a:t>
            </a:r>
            <a:endParaRPr/>
          </a:p>
        </p:txBody>
      </p:sp>
      <p:sp>
        <p:nvSpPr>
          <p:cNvPr id="143" name="Google Shape;14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Scrum Team</a:t>
            </a:r>
            <a:endParaRPr/>
          </a:p>
        </p:txBody>
      </p:sp>
      <p:sp>
        <p:nvSpPr>
          <p:cNvPr id="149" name="Google Shape;149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Courses and Modules</a:t>
            </a:r>
            <a:endParaRPr/>
          </a:p>
        </p:txBody>
      </p:sp>
      <p:graphicFrame>
        <p:nvGraphicFramePr>
          <p:cNvPr id="156" name="Google Shape;156;p2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{AB67F2C7-E277-495E-AD0F-626B15EC63A6}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Courses (Lehrveranstaltungen)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 (AMOS)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Exercise (team meeting)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(COACH)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Total ECTS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40075">
                <a:tc row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AMOS-PO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6 / </a:t>
                      </a: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9 / 10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-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 / 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57" name="Google Shape;157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158" name="Google Shape;158;p2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applies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does not apply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Availability of Modules</a:t>
            </a:r>
            <a:endParaRPr/>
          </a:p>
        </p:txBody>
      </p:sp>
      <p:graphicFrame>
        <p:nvGraphicFramePr>
          <p:cNvPr id="164" name="Google Shape;164;p2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{AB67F2C7-E277-495E-AD0F-626B15EC63A6}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University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FAU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40075">
                <a:tc row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AMOS-PO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65" name="Google Shape;165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166" name="Google Shape;166;p2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available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not available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AMOS-PO / AMOS-SD Grading [1]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Owner (AMOS-PO)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(project) = 100% of grade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Contribution to teamwork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in team meetings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Independent 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by artifacts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Theory (lectures) = 20% of grade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2 SWS in 5 ECTS = 20%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As measured by class quizzes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1000"/>
              </a:spcAft>
              <a:buSzPts val="1400"/>
              <a:buChar char="○"/>
            </a:pPr>
            <a:r>
              <a:rPr lang="en" strike="sngStrike"/>
              <a:t>Grading scale is [0..10] points</a:t>
            </a:r>
            <a:endParaRPr/>
          </a:p>
        </p:txBody>
      </p:sp>
      <p:sp>
        <p:nvSpPr>
          <p:cNvPr id="173" name="Google Shape;173;p2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Developer (AMOS-SD)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(project) =100% of grade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Contribution to teamwork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in team meetings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Independent 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by artifacts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Theory (lectures) = 10% of grade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2 SWS in 10 ECTS = 10%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As measured by class quizzes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1000"/>
              </a:spcAft>
              <a:buSzPts val="1400"/>
              <a:buChar char="○"/>
            </a:pPr>
            <a:r>
              <a:rPr lang="en" strike="sngStrike"/>
              <a:t>Grading scale is [0..10] points</a:t>
            </a:r>
            <a:endParaRPr/>
          </a:p>
        </p:txBody>
      </p:sp>
      <p:sp>
        <p:nvSpPr>
          <p:cNvPr id="174" name="Google Shape;174;p26"/>
          <p:cNvSpPr txBox="1"/>
          <p:nvPr/>
        </p:nvSpPr>
        <p:spPr>
          <a:xfrm>
            <a:off x="0" y="423365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http://oss.cs.fau.de/teaching/course-resources/grading-schemes-and-scales/</a:t>
            </a:r>
            <a:r>
              <a:rPr lang="en"/>
              <a:t> </a:t>
            </a:r>
            <a:endParaRPr/>
          </a:p>
        </p:txBody>
      </p:sp>
      <p:sp>
        <p:nvSpPr>
          <p:cNvPr id="175" name="Google Shape;175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Grading is handled in separate AMOS-SM / COACH course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Scrum Master leads process improvement / questions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Scrum Master does not represent the teaching team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do not handle student performance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AMOS-SM / COACH (Scrum Master)</a:t>
            </a:r>
            <a:endParaRPr/>
          </a:p>
        </p:txBody>
      </p:sp>
      <p:sp>
        <p:nvSpPr>
          <p:cNvPr id="182" name="Google Shape;182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Rules</a:t>
            </a:r>
            <a:endParaRPr/>
          </a:p>
        </p:txBody>
      </p:sp>
      <p:sp>
        <p:nvSpPr>
          <p:cNvPr id="188" name="Google Shape;188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Consistent steady work is more important than crunch time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Three sprints with no (code) work leads to 4,00 (or fail)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Four or more sprints with no (code) work leads to fail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failed, we intend to tell you early; we may also remove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Individual workload of remaining team members will stay the same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are not expect to pick up the slack of leaving team members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As long as you haven’t failed, extra work to catch-up will be rewarded</a:t>
            </a:r>
            <a:endParaRPr/>
          </a:p>
        </p:txBody>
      </p:sp>
      <p:sp>
        <p:nvSpPr>
          <p:cNvPr id="189" name="Google Shape;189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Participation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96" name="Google Shape;196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</a:t>
            </a:r>
            <a:r>
              <a:rPr lang="en"/>
              <a:t>rticipation is mandatory for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 day of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process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Mid-project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COACH workshop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AMOS demo 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all other class days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&gt;&gt; Slides &gt;&gt; Videos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Work</a:t>
            </a:r>
            <a:endParaRPr/>
          </a:p>
        </p:txBody>
      </p:sp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grade by deliverables, see homework document, including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Regular deliverables (product backlog, code contributions, …) every sprint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Irregular (one-time) deliverables as they happen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also grade anyone’s individual teamwork contribution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are present in the team meetings (see schedule document)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expectations are explained in class and documented as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Capabilities timeline</a:t>
            </a:r>
            <a:r>
              <a:rPr lang="en"/>
              <a:t> and the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Capabilities timeline explanation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work is due by the next team meeting, unless stated otherwise</a:t>
            </a:r>
            <a:endParaRPr/>
          </a:p>
        </p:txBody>
      </p:sp>
      <p:sp>
        <p:nvSpPr>
          <p:cNvPr id="203" name="Google Shape;20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Collaboration and Grading</a:t>
            </a:r>
            <a:endParaRPr/>
          </a:p>
        </p:txBody>
      </p:sp>
      <p:sp>
        <p:nvSpPr>
          <p:cNvPr id="209" name="Google Shape;20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(have to) grade you individually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collaborate,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pair programming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pair designing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you agree to be graded jointly</a:t>
            </a:r>
            <a:endParaRPr/>
          </a:p>
        </p:txBody>
      </p:sp>
      <p:sp>
        <p:nvSpPr>
          <p:cNvPr id="210" name="Google Shape;210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Major Milestones</a:t>
            </a:r>
            <a:endParaRPr/>
          </a:p>
        </p:txBody>
      </p:sp>
      <p:sp>
        <p:nvSpPr>
          <p:cNvPr id="216" name="Google Shape;216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process review (quality gate)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You are </a:t>
            </a:r>
            <a:r>
              <a:rPr lang="en"/>
              <a:t>expected to demo a well working build process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Everyone in the team should be able to do this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Mid-project review (quality gate)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You are expected to demonstrate your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If you fail, you may lose your industry partner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1200"/>
              </a:spcAft>
              <a:buSzPts val="1800"/>
              <a:buAutoNum type="arabicPeriod"/>
            </a:pPr>
            <a:r>
              <a:rPr lang="en"/>
              <a:t>Final project release and demo day</a:t>
            </a:r>
            <a:endParaRPr/>
          </a:p>
        </p:txBody>
      </p:sp>
      <p:sp>
        <p:nvSpPr>
          <p:cNvPr id="217" name="Google Shape;217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Issues</a:t>
            </a:r>
            <a:endParaRPr/>
          </a:p>
        </p:txBody>
      </p:sp>
      <p:sp>
        <p:nvSpPr>
          <p:cNvPr id="223" name="Google Shape;223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grade your individual performance, not the team performance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great team motivates everyone, increases productivity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Encourage slackers to improve and don’t cover for them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Scrum Master is responsible for addressing process impediments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Resolution of impediments ultimately remains with the team</a:t>
            </a:r>
            <a:endParaRPr/>
          </a:p>
        </p:txBody>
      </p:sp>
      <p:sp>
        <p:nvSpPr>
          <p:cNvPr id="224" name="Google Shape;224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Management</a:t>
            </a:r>
            <a:endParaRPr/>
          </a:p>
        </p:txBody>
      </p:sp>
      <p:sp>
        <p:nvSpPr>
          <p:cNvPr id="230" name="Google Shape;230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spend some time thinking about potential risks of your 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Predictable risks are delays through </a:t>
            </a:r>
            <a:r>
              <a:rPr lang="en"/>
              <a:t>unavailability</a:t>
            </a:r>
            <a:r>
              <a:rPr lang="en"/>
              <a:t> of resources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risk: Need for computing power to train ML models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Define your expected needs, ask your industry partner early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 on alternative solutions, e.g. use university resources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32" name="Google Shape;232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Almost all universities have a high-performance computer (HPC) center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ask questions using the AMOS course forum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Available through the Uni1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is no downside to asking questions (no malus)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Quality answers will afford a bonus to the answering student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we only new how to add the fourth role of a practice expert</a:t>
            </a:r>
            <a:endParaRPr/>
          </a:p>
        </p:txBody>
      </p:sp>
      <p:sp>
        <p:nvSpPr>
          <p:cNvPr id="238" name="Google Shape;238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Consultancy</a:t>
            </a:r>
            <a:endParaRPr/>
          </a:p>
        </p:txBody>
      </p:sp>
      <p:sp>
        <p:nvSpPr>
          <p:cNvPr id="239" name="Google Shape;239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Management vs. Exam Registration</a:t>
            </a:r>
            <a:r>
              <a:rPr lang="en"/>
              <a:t> [1]</a:t>
            </a:r>
            <a:endParaRPr/>
          </a:p>
        </p:txBody>
      </p:sp>
      <p:sp>
        <p:nvSpPr>
          <p:cNvPr id="245" name="Google Shape;245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AMOS course management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https://moo.uni1.de</a:t>
            </a:r>
            <a:r>
              <a:rPr lang="en"/>
              <a:t> (Uni1 Moodle)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University course management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StudOn (FAU) | ISIS (TUB) | CM (FUB)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 registration (later)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Campo (FAU) | MOSES (TUB)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47" name="Google Shape;247;p3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German: Prüfungsanmeldung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Oral or Written Exam [1] [2]</a:t>
            </a:r>
            <a:endParaRPr/>
          </a:p>
        </p:txBody>
      </p:sp>
      <p:pic>
        <p:nvPicPr>
          <p:cNvPr id="253" name="Google Shape;253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914400"/>
            <a:ext cx="3657601" cy="3649471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7"/>
          <p:cNvSpPr txBox="1"/>
          <p:nvPr/>
        </p:nvSpPr>
        <p:spPr>
          <a:xfrm>
            <a:off x="0" y="4233672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If both you and we don’t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You still have to register for the course</a:t>
            </a:r>
            <a:endParaRPr/>
          </a:p>
        </p:txBody>
      </p:sp>
      <p:sp>
        <p:nvSpPr>
          <p:cNvPr id="255" name="Google Shape;255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Language [1]</a:t>
            </a:r>
            <a:endParaRPr/>
          </a:p>
        </p:txBody>
      </p:sp>
      <p:sp>
        <p:nvSpPr>
          <p:cNvPr id="261" name="Google Shape;261;p38"/>
          <p:cNvSpPr txBox="1"/>
          <p:nvPr/>
        </p:nvSpPr>
        <p:spPr>
          <a:xfrm>
            <a:off x="0" y="42291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https://oss.cs.fau.de/2012/03/10/english-or-german-deutsch-oder-englisch/</a:t>
            </a:r>
            <a:r>
              <a:rPr lang="en"/>
              <a:t> </a:t>
            </a:r>
            <a:endParaRPr/>
          </a:p>
        </p:txBody>
      </p:sp>
      <p:sp>
        <p:nvSpPr>
          <p:cNvPr id="262" name="Google Shape;262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Instructor: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Team: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Information Index</a:t>
            </a:r>
            <a:endParaRPr/>
          </a:p>
        </p:txBody>
      </p:sp>
      <p:sp>
        <p:nvSpPr>
          <p:cNvPr id="269" name="Google Shape;269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nformation index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https://amos.uni1.de</a:t>
            </a:r>
            <a:r>
              <a:rPr lang="en"/>
              <a:t> 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Course schedule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Schedule tab on information index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Rhythm</a:t>
            </a:r>
            <a:endParaRPr/>
          </a:p>
        </p:txBody>
      </p:sp>
      <p:sp>
        <p:nvSpPr>
          <p:cNvPr id="276" name="Google Shape;276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Lectures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day (90min.)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Team meetings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Next slot after lecture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 work (self-organized)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Deliverables due according to schedule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Communication</a:t>
            </a:r>
            <a:endParaRPr/>
          </a:p>
        </p:txBody>
      </p:sp>
      <p:sp>
        <p:nvSpPr>
          <p:cNvPr id="283" name="Google Shape;283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Announcements are sent by email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email aliases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Administrative questions to teaching team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ask your question in the course forum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private questions, use the teaching team email alias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90" name="Google Shape;290;p4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296" name="Google Shape;296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97" name="Google Shape;297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Quizzes</a:t>
            </a:r>
            <a:endParaRPr/>
          </a:p>
        </p:txBody>
      </p:sp>
      <p:sp>
        <p:nvSpPr>
          <p:cNvPr id="303" name="Google Shape;303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trike="sngStrike"/>
              <a:t>Each class session starts with a class quiz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A quiz will test your understanding of last session’s topic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A quiz typically has 5 questions and will last 10 minutes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overall quiz is graded using [0..10] scheme (10 points in total)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trike="sngStrike"/>
              <a:t>A class quiz will open precisely when class starts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quiz is administered automatically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There is no way to make up for a missed quiz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quiz is an exam; do not use help like an AI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trike="sngStrike"/>
          </a:p>
        </p:txBody>
      </p:sp>
      <p:sp>
        <p:nvSpPr>
          <p:cNvPr id="304" name="Google Shape;304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