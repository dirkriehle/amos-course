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39C85E-9174-4036-B62D-4DF2D476FB3C}">
  <a:tblStyle styleId="{5539C85E-9174-4036-B62D-4DF2D476FB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cd8ae1f9a7_3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cd8ae1f9a7_3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26320e91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26320e91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26320e914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26320e914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26320e914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26320e914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26320e914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26320e914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d67168c52d779f0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d67168c52d779f0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16d105fe7552a39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16d105fe7552a39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26320e914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126320e914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4a4924486_3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4a4924486_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26320e914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26320e914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2f9ff53f0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2f9ff53f0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26320e9147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26320e914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5f23d62f9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5f23d62f9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d5e07c0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ed5e07c0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44fcb16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744fcb16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5b0a64b8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5b0a64b8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1ffc1785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1ffc1785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5b0a64b87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5b0a64b87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60d82e81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60d82e81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a04622ea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a04622ea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5f23d62f9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5f23d62f9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h16d105fe7552a39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h16d105fe7552a39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26320e914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26320e914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6168d35e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6168d35e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26320e914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26320e914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126320e9147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126320e914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26320e9147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126320e9147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3985d0d2d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3985d0d2d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3985d0d2d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3985d0d2d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3985d0d2d4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23985d0d2d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uni1.de/amos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uni1.de/amo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uni1.de/amo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54" name="Google Shape;54;p9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55" name="Google Shape;55;p9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9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60" name="Google Shape;60;p10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61" name="Google Shape;61;p10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0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68" name="Google Shape;68;p11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69" name="Google Shape;69;p11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1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1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77" name="Google Shape;77;p12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78" name="Google Shape;78;p12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2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2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84" name="Google Shape;84;p13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uni1.de/amos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hyperlink" Target="https://uni1.de/amos" TargetMode="Externa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https://uni1.de/amos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https://uni1.de/amos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uni1.de/amo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uni1.de/amos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oss.cs.fau.de/teaching/course-resources/grading-schemes-and-scales/" TargetMode="External"/><Relationship Id="rId4" Type="http://schemas.openxmlformats.org/officeDocument/2006/relationships/hyperlink" Target="https://oss.cs.fau.d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spreadsheets/d/1ywwRYi-hR8zlmhw5JgHwO6tEWYiIA5teDnMdMka0WM4/edit?usp=drive_link" TargetMode="External"/><Relationship Id="rId4" Type="http://schemas.openxmlformats.org/officeDocument/2006/relationships/hyperlink" Target="https://docs.google.com/document/d/15UE9_KpxWkXxJbOkW2SX-o07DSQ0UipXpjyIBkyYnC0/edit?usp=drive_link" TargetMode="External"/><Relationship Id="rId5" Type="http://schemas.openxmlformats.org/officeDocument/2006/relationships/hyperlink" Target="https://oss.cs.fau.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hyperlink" Target="https://oss.cs.fau.d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oss.cs.fau.de/2012/03/10/english-or-german-deutsch-oder-englisch/" TargetMode="External"/><Relationship Id="rId4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moo.uni1.de" TargetMode="External"/><Relationship Id="rId4" Type="http://schemas.openxmlformats.org/officeDocument/2006/relationships/hyperlink" Target="https://oss.cs.fau.d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amos.uni1.de" TargetMode="External"/><Relationship Id="rId4" Type="http://schemas.openxmlformats.org/officeDocument/2006/relationships/hyperlink" Target="https://oss.cs.fau.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ss.cs.fau.d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AMOS [1]</a:t>
            </a:r>
            <a:endParaRPr/>
          </a:p>
        </p:txBody>
      </p:sp>
      <p:sp>
        <p:nvSpPr>
          <p:cNvPr id="94" name="Google Shape;94;p15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AMOS A01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  <p:sp>
        <p:nvSpPr>
          <p:cNvPr id="95" name="Google Shape;95;p15"/>
          <p:cNvSpPr txBox="1"/>
          <p:nvPr/>
        </p:nvSpPr>
        <p:spPr>
          <a:xfrm>
            <a:off x="0" y="4690872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Agile Methods and Open Source a.k.a. The AMOS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Goals 1 / 2 [1] [2] [3] [4]</a:t>
            </a:r>
            <a:endParaRPr/>
          </a:p>
        </p:txBody>
      </p:sp>
      <p:sp>
        <p:nvSpPr>
          <p:cNvPr id="101" name="Google Shape;101;p16"/>
          <p:cNvSpPr txBox="1"/>
          <p:nvPr>
            <p:ph idx="4294967295" type="body"/>
          </p:nvPr>
        </p:nvSpPr>
        <p:spPr>
          <a:xfrm>
            <a:off x="274320" y="914400"/>
            <a:ext cx="8595300" cy="3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731520" marR="73152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200">
                <a:solidFill>
                  <a:srgbClr val="212121"/>
                </a:solidFill>
              </a:rPr>
              <a:t>Create useful </a:t>
            </a:r>
            <a:r>
              <a:rPr b="1" lang="en" sz="3200">
                <a:solidFill>
                  <a:schemeClr val="accent6"/>
                </a:solidFill>
              </a:rPr>
              <a:t>open-source software </a:t>
            </a:r>
            <a:r>
              <a:rPr b="1" lang="en" sz="3200">
                <a:solidFill>
                  <a:srgbClr val="212121"/>
                </a:solidFill>
              </a:rPr>
              <a:t>and</a:t>
            </a:r>
            <a:r>
              <a:rPr b="1" lang="en" sz="3200">
                <a:solidFill>
                  <a:srgbClr val="212121"/>
                </a:solidFill>
              </a:rPr>
              <a:t> learn </a:t>
            </a:r>
            <a:r>
              <a:rPr b="1" lang="en" sz="3200">
                <a:solidFill>
                  <a:schemeClr val="accent6"/>
                </a:solidFill>
              </a:rPr>
              <a:t>agile methods</a:t>
            </a:r>
            <a:br>
              <a:rPr b="1" lang="en" sz="3200">
                <a:solidFill>
                  <a:srgbClr val="212121"/>
                </a:solidFill>
              </a:rPr>
            </a:br>
            <a:r>
              <a:rPr b="1" lang="en" sz="3200">
                <a:solidFill>
                  <a:srgbClr val="212121"/>
                </a:solidFill>
              </a:rPr>
              <a:t>in</a:t>
            </a:r>
            <a:r>
              <a:rPr b="1" lang="en" sz="3200">
                <a:solidFill>
                  <a:srgbClr val="212121"/>
                </a:solidFill>
              </a:rPr>
              <a:t> </a:t>
            </a:r>
            <a:r>
              <a:rPr b="1" lang="en" sz="3200">
                <a:solidFill>
                  <a:srgbClr val="212121"/>
                </a:solidFill>
              </a:rPr>
              <a:t>a </a:t>
            </a:r>
            <a:r>
              <a:rPr b="1" lang="en" sz="3200">
                <a:solidFill>
                  <a:schemeClr val="accent6"/>
                </a:solidFill>
              </a:rPr>
              <a:t>Scrum team</a:t>
            </a:r>
            <a:endParaRPr b="1" sz="3200">
              <a:solidFill>
                <a:schemeClr val="accent6"/>
              </a:solidFill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-25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Professional = ambition + collaboration with external partner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Agile methods = our focus here, specifically Scrum + XP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[3] We teach both overall processes as well as best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[4] Useful software is software that has value to someone!</a:t>
            </a:r>
            <a:endParaRPr/>
          </a:p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Goals 2 / 2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Learning objectives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Gain conceptual understanding and practical skills of using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agile software development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software project management tools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software development tools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how to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with an external stakeholder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(student) project team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Project objectives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 useful open-source software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a great demo on demo-day!</a:t>
            </a:r>
            <a:endParaRPr/>
          </a:p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Partners</a:t>
            </a:r>
            <a:endParaRPr/>
          </a:p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1" cy="354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Semester’s Projects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iteratec - Legacy Migrator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Bosch - Engineering Knowledge Advisor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AIlixir - Patient Journey Matcher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Wisdom Bridge AI - ODOS</a:t>
            </a:r>
            <a:endParaRPr/>
          </a:p>
        </p:txBody>
      </p:sp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Position in Curriculum</a:t>
            </a:r>
            <a:endParaRPr/>
          </a:p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136" name="Google Shape;136;p21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{5539C85E-9174-4036-B62D-4DF2D476FB3C}</a:tableStyleId>
              </a:tblPr>
              <a:tblGrid>
                <a:gridCol w="1074425"/>
                <a:gridCol w="1074425"/>
                <a:gridCol w="1074425"/>
                <a:gridCol w="1074425"/>
                <a:gridCol w="1074425"/>
                <a:gridCol w="1074425"/>
                <a:gridCol w="1074425"/>
                <a:gridCol w="1074425"/>
              </a:tblGrid>
              <a:tr h="52252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Bachelor’s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Master’s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5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6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2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3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4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ADAP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NYT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 hMerge="1"/>
                <a:tc hMerge="1"/>
                <a:tc hMerge="1"/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FOSS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FOSS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COACH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  <a:tc hMerge="1"/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Seminar (SEMI)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Seminar (SEMI / ASES)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Praktikum (PRAK)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Project (PROJ / ASEP)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0" marB="0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</a:tr>
              <a:tr h="52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BATH + KOLL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MATH + KOLL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Skills Required for Course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skills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Willingness and ability to work in a team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Ability to acquire skills during the project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Role-specific skills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Product owner (PO) role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conceptual thinking, ability to communicate well, affinity to technology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developer (SD) role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Technology (specific to project), development tools like git, test-driven development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Scrum Master (SM) role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Past successful experience as an AMOS product owner or software developer</a:t>
            </a:r>
            <a:endParaRPr/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AMOS Scrum Team</a:t>
            </a:r>
            <a:endParaRPr/>
          </a:p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https://uni1.de/amos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31520"/>
            <a:ext cx="9144001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Courses and Modules</a:t>
            </a:r>
            <a:endParaRPr/>
          </a:p>
        </p:txBody>
      </p:sp>
      <p:graphicFrame>
        <p:nvGraphicFramePr>
          <p:cNvPr id="156" name="Google Shape;156;p24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{5539C85E-9174-4036-B62D-4DF2D476FB3C}</a:tableStyleId>
              </a:tblPr>
              <a:tblGrid>
                <a:gridCol w="1432550"/>
                <a:gridCol w="1432550"/>
                <a:gridCol w="1432550"/>
                <a:gridCol w="1432550"/>
                <a:gridCol w="1432550"/>
                <a:gridCol w="1432550"/>
              </a:tblGrid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Courses (Lehrveranstaltungen)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Lecture (AMOS)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Exercise (team meeting)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Lecture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b="1" lang="en">
                          <a:solidFill>
                            <a:schemeClr val="lt1"/>
                          </a:solidFill>
                        </a:rPr>
                        <a:t>(COACH)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Total ECTS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4007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Modules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AMOS-PO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–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6 / </a:t>
                      </a:r>
                      <a:r>
                        <a:rPr b="1" lang="en"/>
                        <a:t>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AMOS-SD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–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9 / 10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AMOS-SM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COACH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-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b="1" lang="en"/>
                        <a:t>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6</a:t>
                      </a:r>
                      <a:r>
                        <a:rPr b="1" lang="en"/>
                        <a:t> / 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sp>
        <p:nvSpPr>
          <p:cNvPr id="158" name="Google Shape;158;p24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= applies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= does not apply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Availability of Modules</a:t>
            </a:r>
            <a:endParaRPr/>
          </a:p>
        </p:txBody>
      </p:sp>
      <p:graphicFrame>
        <p:nvGraphicFramePr>
          <p:cNvPr id="164" name="Google Shape;164;p25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{5539C85E-9174-4036-B62D-4DF2D476FB3C}</a:tableStyleId>
              </a:tblPr>
              <a:tblGrid>
                <a:gridCol w="1432550"/>
                <a:gridCol w="1432550"/>
                <a:gridCol w="1432550"/>
                <a:gridCol w="1432550"/>
                <a:gridCol w="1432550"/>
                <a:gridCol w="1432550"/>
              </a:tblGrid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University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 hMerge="1"/>
                <a:tc hMerge="1"/>
              </a:tr>
              <a:tr h="640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FAU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FUB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TUB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40075"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Modules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AMOS-PO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–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6400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AMOS-SD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4007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AMOS-SM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COACH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0" marL="0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</a:t>
                      </a:r>
                      <a:r>
                        <a:rPr b="1" lang="en"/>
                        <a:t>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–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x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/>
          </a:p>
        </p:txBody>
      </p:sp>
      <p:sp>
        <p:nvSpPr>
          <p:cNvPr id="166" name="Google Shape;166;p25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 = available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– = not available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AMOS-PO / AMOS-SD Grading [1]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Owner (AMOS-PO)</a:t>
            </a:r>
            <a:endParaRPr strike="sngStrike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Practice (project) = 100% of grade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Contribution to teamwork = 50%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measured in team meetings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Grading scale is [0|1|2|3]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Independent work = 50%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measured by artifacts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Grading scale is [0|1|2|3]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Theory (lectures) = 20% of grade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2 SWS in 5 ECTS = 20%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As measured by class quizzes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1000"/>
              </a:spcAft>
              <a:buSzPts val="1400"/>
              <a:buChar char="○"/>
            </a:pPr>
            <a:r>
              <a:rPr lang="en" strike="sngStrike"/>
              <a:t>Grading scale is [0..10] points</a:t>
            </a:r>
            <a:endParaRPr/>
          </a:p>
        </p:txBody>
      </p:sp>
      <p:sp>
        <p:nvSpPr>
          <p:cNvPr id="173" name="Google Shape;173;p26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Developer (AMOS-SD)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Practice (project) =100% of grade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Contribution to teamwork = 50%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measured in team meetings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Grading scale is [0|1|2|3]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Independent work = 50%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As measured by artifacts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Grading scale is [0|1|2|3]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Theory (lectures) = 10% of grade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2 SWS in 10 ECTS = 10%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trike="sngStrike"/>
              <a:t>As measured by class quizzes</a:t>
            </a:r>
            <a:endParaRPr strike="sngStrike"/>
          </a:p>
          <a:p>
            <a:pPr indent="-317500" lvl="1" marL="914400" rtl="0" algn="l">
              <a:spcBef>
                <a:spcPts val="0"/>
              </a:spcBef>
              <a:spcAft>
                <a:spcPts val="1000"/>
              </a:spcAft>
              <a:buSzPts val="1400"/>
              <a:buChar char="○"/>
            </a:pPr>
            <a:r>
              <a:rPr lang="en" strike="sngStrike"/>
              <a:t>Grading scale is [0..10] points</a:t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0" y="423365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Also 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http://oss.cs.fau.de/teaching/course-resources/grading-schemes-and-scales/</a:t>
            </a:r>
            <a:r>
              <a:rPr lang="en"/>
              <a:t> </a:t>
            </a:r>
            <a:endParaRPr/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Grading is handled in separate AMOS-SM / COACH course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Scrum Master leads process improvement / questions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Scrum Master does not represent the teaching team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do not handle student performance questions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AMOS-SM / COACH (Scrum Master)</a:t>
            </a:r>
            <a:endParaRPr/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Rules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Consistent steady work is more important than crunch time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sprints with no (code) work leads to 4,00 (or fail)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or more sprints with no (code) work leads to fail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failed, we intend to tell you early; we may also remove you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 workload of remaining team members will stay the same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not expect to pick up the slack of leaving team members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 long as you haven’t failed, extra work to catch-up will be rewarded</a:t>
            </a:r>
            <a:endParaRPr/>
          </a:p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Participation</a:t>
            </a:r>
            <a:endParaRPr/>
          </a:p>
        </p:txBody>
      </p:sp>
      <p:sp>
        <p:nvSpPr>
          <p:cNvPr id="195" name="Google Shape;195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</a:t>
            </a:r>
            <a:r>
              <a:rPr lang="en"/>
              <a:t>rticipation is mandatory for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day of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Scrum and AMOS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process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Mid-project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COACH workshop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AMOS demo day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all other class days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&gt;&gt; Slides &gt;&gt; Videos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Work</a:t>
            </a:r>
            <a:endParaRPr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grade by deliverables, see homework document, including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Regular deliverables (product backlog, code contributions, …) every sprint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Irregular (one-time) deliverables as they happen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also grade anyone’s individual teamwork contribution when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are present in the team meetings (see schedule document)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expectations are explained in class and documented as the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Capabilities timeline</a:t>
            </a:r>
            <a:r>
              <a:rPr lang="en"/>
              <a:t> and the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Capabilities timeline explanation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work is due by the next team meeting, unless stated otherwise</a:t>
            </a:r>
            <a:endParaRPr/>
          </a:p>
        </p:txBody>
      </p:sp>
      <p:sp>
        <p:nvSpPr>
          <p:cNvPr id="203" name="Google Shape;203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5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Collaboration and Grading</a:t>
            </a:r>
            <a:endParaRPr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(have to) grade you individually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collaborate, for example,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pair programming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pair designing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 agree to be graded jointly</a:t>
            </a:r>
            <a:endParaRPr/>
          </a:p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Milestones</a:t>
            </a:r>
            <a:endParaRPr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Build process review (quality gate)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You are </a:t>
            </a:r>
            <a:r>
              <a:rPr lang="en"/>
              <a:t>expected to demo a well working build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Everyone in the team should be able to do this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Mid-project review (quality gate)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You are expected to demonstrate your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If you fail, you may lose your industry partner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AutoNum type="arabicPeriod"/>
            </a:pPr>
            <a:r>
              <a:rPr lang="en"/>
              <a:t>Final project release and demo day</a:t>
            </a:r>
            <a:endParaRPr/>
          </a:p>
        </p:txBody>
      </p:sp>
      <p:sp>
        <p:nvSpPr>
          <p:cNvPr id="217" name="Google Shape;217;p3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Issues</a:t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grade your individual performance, not the team performance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great team motivates everyone, increases productivity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Encourage slackers to improve and don’t cover for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Scrum Master is responsible for addressing process impediments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Resolution of impediments ultimately remains with the team</a:t>
            </a:r>
            <a:endParaRPr/>
          </a:p>
        </p:txBody>
      </p:sp>
      <p:sp>
        <p:nvSpPr>
          <p:cNvPr id="224" name="Google Shape;224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Management</a:t>
            </a:r>
            <a:endParaRPr/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spend some time thinking about potential risks of your project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Predictable risks are delays through </a:t>
            </a:r>
            <a:r>
              <a:rPr lang="en"/>
              <a:t>unavailability</a:t>
            </a:r>
            <a:r>
              <a:rPr lang="en"/>
              <a:t> of resources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 risk: Need for computing power to train ML models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 your expected needs, ask your industry partner early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 on alternative solutions, e.g. use university resources 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32" name="Google Shape;232;p34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Almost all universities have a high-performance computer (HPC) center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ask questions using the AMOS course forum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Available through the Uni1 course management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is no downside to asking questions (no malus)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Quality answers will afford a bonus to the answering student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we only new how to add the fourth role of a practice expert</a:t>
            </a:r>
            <a:endParaRPr/>
          </a:p>
        </p:txBody>
      </p:sp>
      <p:sp>
        <p:nvSpPr>
          <p:cNvPr id="238" name="Google Shape;238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AMOS Consultancy</a:t>
            </a:r>
            <a:endParaRPr/>
          </a:p>
        </p:txBody>
      </p:sp>
      <p:sp>
        <p:nvSpPr>
          <p:cNvPr id="239" name="Google Shape;239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Oral or Written Exam [1] [2]</a:t>
            </a:r>
            <a:endParaRPr/>
          </a:p>
        </p:txBody>
      </p:sp>
      <p:pic>
        <p:nvPicPr>
          <p:cNvPr id="245" name="Google Shape;24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914400"/>
            <a:ext cx="3657601" cy="364947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6"/>
          <p:cNvSpPr txBox="1"/>
          <p:nvPr/>
        </p:nvSpPr>
        <p:spPr>
          <a:xfrm>
            <a:off x="0" y="423367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If both you and we don’t want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[2] You still have to register for the course</a:t>
            </a:r>
            <a:endParaRPr/>
          </a:p>
        </p:txBody>
      </p:sp>
      <p:sp>
        <p:nvSpPr>
          <p:cNvPr id="247" name="Google Shape;247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Language [1]</a:t>
            </a:r>
            <a:endParaRPr/>
          </a:p>
        </p:txBody>
      </p:sp>
      <p:sp>
        <p:nvSpPr>
          <p:cNvPr id="253" name="Google Shape;253;p37"/>
          <p:cNvSpPr txBox="1"/>
          <p:nvPr/>
        </p:nvSpPr>
        <p:spPr>
          <a:xfrm>
            <a:off x="0" y="42291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https://oss.cs.fau.de/2012/03/10/english-or-german-deutsch-oder-englisch/</a:t>
            </a:r>
            <a:r>
              <a:rPr lang="en"/>
              <a:t> </a:t>
            </a:r>
            <a:endParaRPr/>
          </a:p>
        </p:txBody>
      </p:sp>
      <p:sp>
        <p:nvSpPr>
          <p:cNvPr id="254" name="Google Shape;254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Lecturer: English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Student: Choice of German or English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Instructor: English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Team: Choice of German or English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Course registration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Sign-up on StudOn (FAU) | ISIS (TUB) | CM (FUB) / open now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Needed to get your id for matching you on Campo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Course management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Sign-up on the Uni1 Moodle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https://moo.uni1.de</a:t>
            </a:r>
            <a:r>
              <a:rPr lang="en"/>
              <a:t>) / open now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Use your university email address; if not no grade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Exam registration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Sign-up on Campo (FAU) | MOSES (TUB) / opens later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No exam registration no grade</a:t>
            </a:r>
            <a:endParaRPr/>
          </a:p>
        </p:txBody>
      </p:sp>
      <p:sp>
        <p:nvSpPr>
          <p:cNvPr id="261" name="Google Shape;261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Steps to Proper Registration</a:t>
            </a:r>
            <a:endParaRPr/>
          </a:p>
        </p:txBody>
      </p:sp>
      <p:sp>
        <p:nvSpPr>
          <p:cNvPr id="262" name="Google Shape;262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Schedule</a:t>
            </a:r>
            <a:endParaRPr/>
          </a:p>
        </p:txBody>
      </p:sp>
      <p:sp>
        <p:nvSpPr>
          <p:cNvPr id="268" name="Google Shape;268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https://amos.uni1.de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sure you are on the right tab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Rhythm</a:t>
            </a:r>
            <a:endParaRPr/>
          </a:p>
        </p:txBody>
      </p:sp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Lectures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day (90min.)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Team meetings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slot after lecture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work (self-organized)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Deliverables due according to schedule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Communication</a:t>
            </a:r>
            <a:endParaRPr/>
          </a:p>
        </p:txBody>
      </p:sp>
      <p:sp>
        <p:nvSpPr>
          <p:cNvPr id="282" name="Google Shape;282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Announcements are sent by email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 email aliases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Through course management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Administrative questions to teaching team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Please ask your question in the course forum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private questions, use the teaching team email alias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289" name="Google Shape;289;p4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295" name="Google Shape;295;p4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  <p:sp>
        <p:nvSpPr>
          <p:cNvPr id="296" name="Google Shape;296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2009-2026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Quizzes</a:t>
            </a:r>
            <a:endParaRPr/>
          </a:p>
        </p:txBody>
      </p:sp>
      <p:sp>
        <p:nvSpPr>
          <p:cNvPr id="302" name="Google Shape;302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trike="sngStrike"/>
              <a:t>Each class session starts with a class quiz</a:t>
            </a:r>
            <a:endParaRPr strike="sngStrike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A quiz will test your understanding of last session’s topic</a:t>
            </a:r>
            <a:endParaRPr strike="sngStrike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A quiz typically has 5 questions and will last 10 minutes</a:t>
            </a:r>
            <a:endParaRPr strike="sngStrike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The overall quiz is graded using [0..10] scheme (10 points in total)</a:t>
            </a:r>
            <a:endParaRPr strike="sngStrike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trike="sngStrike"/>
              <a:t>A class quiz will open precisely when class starts</a:t>
            </a:r>
            <a:endParaRPr strike="sngStrike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The quiz is administered automatically</a:t>
            </a:r>
            <a:endParaRPr strike="sngStrike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There is no way to make up for a missed quiz</a:t>
            </a:r>
            <a:endParaRPr strike="sngStrike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trike="sngStrike"/>
              <a:t>The quiz is an exam; do not use help like an AI</a:t>
            </a:r>
            <a:endParaRPr strike="sngStrike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trike="sngStrike"/>
          </a:p>
        </p:txBody>
      </p:sp>
      <p:sp>
        <p:nvSpPr>
          <p:cNvPr id="303" name="Google Shape;303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MO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