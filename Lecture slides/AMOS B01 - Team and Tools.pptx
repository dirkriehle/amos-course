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66AA95A-A93B-462D-889F-7D251E3C9532}">
  <a:tblStyle styleId="{666AA95A-A93B-462D-889F-7D251E3C95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1080B285-DD26-4382-9D89-CEF7B5E0849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20" Type="http://schemas.openxmlformats.org/officeDocument/2006/relationships/slide" Target="slides/slide13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22" Type="http://schemas.openxmlformats.org/officeDocument/2006/relationships/slide" Target="slides/slide15.xml"/><Relationship Id="rId66" Type="http://schemas.openxmlformats.org/officeDocument/2006/relationships/slide" Target="slides/slide59.xml"/><Relationship Id="rId21" Type="http://schemas.openxmlformats.org/officeDocument/2006/relationships/slide" Target="slides/slide14.xml"/><Relationship Id="rId65" Type="http://schemas.openxmlformats.org/officeDocument/2006/relationships/slide" Target="slides/slide58.xml"/><Relationship Id="rId24" Type="http://schemas.openxmlformats.org/officeDocument/2006/relationships/slide" Target="slides/slide17.xml"/><Relationship Id="rId68" Type="http://schemas.openxmlformats.org/officeDocument/2006/relationships/slide" Target="slides/slide61.xml"/><Relationship Id="rId23" Type="http://schemas.openxmlformats.org/officeDocument/2006/relationships/slide" Target="slides/slide16.xml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69" Type="http://schemas.openxmlformats.org/officeDocument/2006/relationships/slide" Target="slides/slide62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slide" Target="slides/slide48.xml"/><Relationship Id="rId10" Type="http://schemas.openxmlformats.org/officeDocument/2006/relationships/slide" Target="slides/slide3.xml"/><Relationship Id="rId54" Type="http://schemas.openxmlformats.org/officeDocument/2006/relationships/slide" Target="slides/slide47.xml"/><Relationship Id="rId13" Type="http://schemas.openxmlformats.org/officeDocument/2006/relationships/slide" Target="slides/slide6.xml"/><Relationship Id="rId57" Type="http://schemas.openxmlformats.org/officeDocument/2006/relationships/slide" Target="slides/slide50.xml"/><Relationship Id="rId12" Type="http://schemas.openxmlformats.org/officeDocument/2006/relationships/slide" Target="slides/slide5.xml"/><Relationship Id="rId56" Type="http://schemas.openxmlformats.org/officeDocument/2006/relationships/slide" Target="slides/slide49.xml"/><Relationship Id="rId15" Type="http://schemas.openxmlformats.org/officeDocument/2006/relationships/slide" Target="slides/slide8.xml"/><Relationship Id="rId59" Type="http://schemas.openxmlformats.org/officeDocument/2006/relationships/slide" Target="slides/slide52.xml"/><Relationship Id="rId14" Type="http://schemas.openxmlformats.org/officeDocument/2006/relationships/slide" Target="slides/slide7.xml"/><Relationship Id="rId58" Type="http://schemas.openxmlformats.org/officeDocument/2006/relationships/slide" Target="slides/slide51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a0f6d6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a0f6d6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f17014c6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f17014c6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a7bceba6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a7bceba6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2c3a52a54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2c3a52a54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4a472faaf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d4a472faaf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2c3a52a549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2c3a52a549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2c3a52a549_0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2c3a52a549_0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2c3a52a549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2c3a52a549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1e2e277565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1e2e277565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152a3f74d0d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152a3f74d0d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2c3a52a549_0_2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22c3a52a549_0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2c3a52a549_0_2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2c3a52a549_0_2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2c3a52a549_0_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2c3a52a549_0_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152a3f74d0d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152a3f74d0d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2c3a52a54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2c3a52a54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152a3f74d0d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152a3f74d0d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22c3a52a549_0_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22c3a52a549_0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152a3f74d0d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152a3f74d0d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2c56dd9f6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2c56dd9f6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2c3a52a549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2c3a52a549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c3a52a54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2c3a52a54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2c3a52a549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2c3a52a549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2c3a52a549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2c3a52a549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c3a52a549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22c3a52a549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2c3a52a54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2c3a52a54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2c3a52a549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2c3a52a549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c56dd9f66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22c56dd9f66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2c3a52a5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22c3a52a5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2c3a52a54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22c3a52a54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2c3a52a549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2c3a52a549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2c3a52a549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2c3a52a549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2c3a52a549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2c3a52a549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2c3a52a549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22c3a52a549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2c3a52a549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22c3a52a549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2c3a52a549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2c3a52a549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2c3a52a549_0_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2c3a52a549_0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f22ec5a7f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f22ec5a7f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152a3f74d0d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152a3f74d0d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2c3a52a549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22c3a52a549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22c3a52a549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22c3a52a549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2c3a52a549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2c3a52a549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22c3a52a549_0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22c3a52a549_0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b15bf7228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3b15bf7228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ad5dfb57f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ad5dfb57f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b09cc5edf3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b09cc5edf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d5a07b71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d5a07b71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2c3a52a549_0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22c3a52a549_0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22c3a52a549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22c3a52a549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2c3a52a549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22c3a52a549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9f22ec5a7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9f22ec5a7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f22ec5a7f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f22ec5a7f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9f22ec5a7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9f22ec5a7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f22ec5a7f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f22ec5a7f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2c3a52a549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2c3a52a549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152a3f74d0d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152a3f74d0d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22c56dd9f6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22c56dd9f6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22c3a52a549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22c3a52a54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152a3f74d0d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152a3f74d0d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22c56dd9f66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22c56dd9f66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22c56dd9f66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22c56dd9f66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239869f5ab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239869f5ab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239869f5ab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239869f5ab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uni1.de/amos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docs.google.com/spreadsheets/d/14rCQE3ahWKZlQ2dmAIrCrCbzXuVyEOgyWH38PYNCLvo/edit?usp=sharing" TargetMode="External"/><Relationship Id="rId4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2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0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github.com/en/pull-requests/committing-changes-to-your-project/creating-and-editing-commits/creating-a-commit-with-multiple-authors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stefan.buchner@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pensource.org/licenses/MIT" TargetMode="External"/><Relationship Id="rId4" Type="http://schemas.openxmlformats.org/officeDocument/2006/relationships/hyperlink" Target="https://creativecommons.org/licenses/by/4.0/" TargetMode="External"/><Relationship Id="rId5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reuse.software/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oss.cs.fau.de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oss.cs.fau.de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8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s://oss.cs.fau.de" TargetMode="Externa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oss.cs.fau.de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s://happy.uni1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image" Target="../media/image9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s://happy.uni1.de" TargetMode="External"/><Relationship Id="rId4" Type="http://schemas.openxmlformats.org/officeDocument/2006/relationships/hyperlink" Target="https://oss.cs.fau.de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hyperlink" Target="https://oss.cs.fau.de" TargetMode="Externa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and Tools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B01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Student roles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contract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logo and T-shirt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Project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Planning document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Feature board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Code repository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coordination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Imp-squared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Stand-up emails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Happiness index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and Deliverables</a:t>
            </a:r>
            <a:endParaRPr/>
          </a:p>
        </p:txBody>
      </p:sp>
      <p:sp>
        <p:nvSpPr>
          <p:cNvPr id="107" name="Google Shape;107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08" name="Google Shape;108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Student Roles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Scrum Team</a:t>
            </a:r>
            <a:endParaRPr/>
          </a:p>
        </p:txBody>
      </p:sp>
      <p:sp>
        <p:nvSpPr>
          <p:cNvPr id="119" name="Google Shape;11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20" name="Google Shape;12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that the software is valuable (to customers)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Software developer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for design and implementation of the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for continuous process improvement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Roles</a:t>
            </a:r>
            <a:endParaRPr/>
          </a:p>
        </p:txBody>
      </p:sp>
      <p:sp>
        <p:nvSpPr>
          <p:cNvPr id="127" name="Google Shape;127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Roles</a:t>
            </a:r>
            <a:endParaRPr/>
          </a:p>
        </p:txBody>
      </p:sp>
      <p:sp>
        <p:nvSpPr>
          <p:cNvPr id="133" name="Google Shape;133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that a demo is ready for review</a:t>
            </a:r>
            <a:endParaRPr/>
          </a:p>
        </p:txBody>
      </p:sp>
      <p:sp>
        <p:nvSpPr>
          <p:cNvPr id="134" name="Google Shape;134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is no Project Manager</a:t>
            </a:r>
            <a:endParaRPr/>
          </a:p>
        </p:txBody>
      </p:sp>
      <p:sp>
        <p:nvSpPr>
          <p:cNvPr id="140" name="Google Shape;140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teams are self-organizing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Industry Partner Meeting</a:t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should have a first meeting with your industry partner as soon as possible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Team members in general participate to learn about project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owners participate to gather requirements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developers participate to ask technical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 the first team meeting you should still try to regularly meet the industry partner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many team members should participate as is sensible and possible</a:t>
            </a:r>
            <a:endParaRPr/>
          </a:p>
        </p:txBody>
      </p:sp>
      <p:sp>
        <p:nvSpPr>
          <p:cNvPr id="148" name="Google Shape;148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Team Contract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team contract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contract between team members on how to conduct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Its main components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Goals and rewards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Norms and sanctions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Contract</a:t>
            </a:r>
            <a:endParaRPr/>
          </a:p>
        </p:txBody>
      </p:sp>
      <p:sp>
        <p:nvSpPr>
          <p:cNvPr id="160" name="Google Shape;160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and Rewards</a:t>
            </a:r>
            <a:endParaRPr/>
          </a:p>
        </p:txBody>
      </p:sp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are what the team hopes to achieve; there are several categories: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Learning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ensure that all team members understand the course material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Interpersonal relationship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foster an atmosphere of mutual respect and learning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Functional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have efficient team meetings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Rewards are how you celebrate </a:t>
            </a:r>
            <a:r>
              <a:rPr lang="en"/>
              <a:t>intermediate</a:t>
            </a:r>
            <a:r>
              <a:rPr lang="en"/>
              <a:t> or final achievements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Let’s have cake!</a:t>
            </a:r>
            <a:endParaRPr/>
          </a:p>
        </p:txBody>
      </p:sp>
      <p:sp>
        <p:nvSpPr>
          <p:cNvPr id="167" name="Google Shape;167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Norms and Sanctions</a:t>
            </a:r>
            <a:endParaRPr/>
          </a:p>
        </p:txBody>
      </p:sp>
      <p:sp>
        <p:nvSpPr>
          <p:cNvPr id="173" name="Google Shape;173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Norms are rules for expected behavior; there are several categories: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Meeting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being late to a team meeting acceptable?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Working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will we make decisions?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Coordination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Who keeps meetings on track?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Communication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to communicate outside of team meetings?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Sanctions are what to do if norms are violated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Sing a song to the team or do ten push-ups</a:t>
            </a:r>
            <a:endParaRPr/>
          </a:p>
        </p:txBody>
      </p:sp>
      <p:sp>
        <p:nvSpPr>
          <p:cNvPr id="174" name="Google Shape;174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Team Contract</a:t>
            </a:r>
            <a:endParaRPr/>
          </a:p>
        </p:txBody>
      </p:sp>
      <p:sp>
        <p:nvSpPr>
          <p:cNvPr id="180" name="Google Shape;180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discuss and agree on a team contract (in planning document)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Try to finish this during the first team meeting</a:t>
            </a:r>
            <a:endParaRPr/>
          </a:p>
        </p:txBody>
      </p:sp>
      <p:sp>
        <p:nvSpPr>
          <p:cNvPr id="181" name="Google Shape;181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Team Logo and T-shirt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Logo</a:t>
            </a:r>
            <a:endParaRPr/>
          </a:p>
        </p:txBody>
      </p:sp>
      <p:sp>
        <p:nvSpPr>
          <p:cNvPr id="192" name="Google Shape;19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team logo is just that, a logo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Represents your team and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logo will be used in different places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your team T-shirt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GitHub documentation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your final demo and report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Wherever you see fit</a:t>
            </a:r>
            <a:endParaRPr/>
          </a:p>
        </p:txBody>
      </p:sp>
      <p:sp>
        <p:nvSpPr>
          <p:cNvPr id="193" name="Google Shape;193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194" name="Google Shape;19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2025" y="914400"/>
            <a:ext cx="3657600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Logo Design</a:t>
            </a:r>
            <a:endParaRPr/>
          </a:p>
        </p:txBody>
      </p:sp>
      <p:sp>
        <p:nvSpPr>
          <p:cNvPr id="200" name="Google Shape;200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started with collaboratively designing the team logo during the team meeting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Continue on your self-chosen communication channels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Final execution (graphics) may be delegated to one person</a:t>
            </a:r>
            <a:endParaRPr/>
          </a:p>
        </p:txBody>
      </p:sp>
      <p:sp>
        <p:nvSpPr>
          <p:cNvPr id="201" name="Google Shape;201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T-shirt</a:t>
            </a:r>
            <a:endParaRPr/>
          </a:p>
        </p:txBody>
      </p:sp>
      <p:sp>
        <p:nvSpPr>
          <p:cNvPr id="207" name="Google Shape;207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a team T-shirt design using your logo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add your logo and one text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</a:t>
            </a:r>
            <a:r>
              <a:rPr lang="en"/>
              <a:t>ubmit your team T-shirt preferences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Color, size, form</a:t>
            </a:r>
            <a:endParaRPr/>
          </a:p>
        </p:txBody>
      </p:sp>
      <p:sp>
        <p:nvSpPr>
          <p:cNvPr id="208" name="Google Shape;208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09" name="Google Shape;209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2017" y="914400"/>
            <a:ext cx="3657599" cy="4024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Team Logo / Team T-Shirt</a:t>
            </a:r>
            <a:endParaRPr/>
          </a:p>
        </p:txBody>
      </p:sp>
      <p:sp>
        <p:nvSpPr>
          <p:cNvPr id="215" name="Google Shape;215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create the team logo and T-shirt design and submit your preferences</a:t>
            </a:r>
            <a:endParaRPr/>
          </a:p>
        </p:txBody>
      </p:sp>
      <p:sp>
        <p:nvSpPr>
          <p:cNvPr id="216" name="Google Shape;216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Planning Document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Planning Document</a:t>
            </a:r>
            <a:endParaRPr/>
          </a:p>
        </p:txBody>
      </p:sp>
      <p:sp>
        <p:nvSpPr>
          <p:cNvPr id="227" name="Google Shape;227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planning document serves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 basic project information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 all materials that don’t go easily into the repository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Coordinate work on this less frequent information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See also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Flowers example planning document</a:t>
            </a:r>
            <a:endParaRPr/>
          </a:p>
        </p:txBody>
      </p:sp>
      <p:sp>
        <p:nvSpPr>
          <p:cNvPr id="228" name="Google Shape;228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34" name="Google Shape;234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235" name="Google Shape;235;p36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{666AA95A-A93B-462D-889F-7D251E3C9532}</a:tableStyleId>
              </a:tblPr>
              <a:tblGrid>
                <a:gridCol w="524750"/>
                <a:gridCol w="2979050"/>
                <a:gridCol w="5091575"/>
              </a:tblGrid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#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Artifact name (tab in spreadsheet)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Artifact purpose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Project data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basic project data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Project team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Shows project team 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3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Role assignments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role assignment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contract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Shows team contract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5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Product goal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product vision and project mission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6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Product glossary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domain terminology of project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7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Sprint goals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Lists goals of respective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Velocity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realized story points per sprint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9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Mid-project release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mid-project release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Final project release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Plans and tracks final project release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11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Definition of done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decision criteria for “done”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12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Documentation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 links to documentation of product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13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Bill of materials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Lists all third-party components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r>
              <a:rPr lang="en"/>
              <a:t> Project Data</a:t>
            </a:r>
            <a:endParaRPr/>
          </a:p>
        </p:txBody>
      </p:sp>
      <p:sp>
        <p:nvSpPr>
          <p:cNvPr id="241" name="Google Shape;241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fill in the data as needed and as you see fit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do not protect the online Zoom team meeting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do not change the Zoom link during the semester</a:t>
            </a:r>
            <a:endParaRPr/>
          </a:p>
        </p:txBody>
      </p:sp>
      <p:sp>
        <p:nvSpPr>
          <p:cNvPr id="242" name="Google Shape;242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r>
              <a:rPr lang="en"/>
              <a:t> Project Team</a:t>
            </a:r>
            <a:endParaRPr/>
          </a:p>
        </p:txBody>
      </p:sp>
      <p:sp>
        <p:nvSpPr>
          <p:cNvPr id="248" name="Google Shape;248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provide your name and GitHub id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Almost all work takes place in the project’s GitHub repository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create and provide your GitHub id as soon as possible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</a:t>
            </a:r>
            <a:r>
              <a:rPr b="1" lang="en"/>
              <a:t>use only one GitHub id</a:t>
            </a:r>
            <a:r>
              <a:rPr lang="en"/>
              <a:t> during the semester </a:t>
            </a:r>
            <a:endParaRPr/>
          </a:p>
        </p:txBody>
      </p:sp>
      <p:sp>
        <p:nvSpPr>
          <p:cNvPr id="249" name="Google Shape;249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r>
              <a:rPr lang="en"/>
              <a:t> Role Assignments</a:t>
            </a:r>
            <a:endParaRPr/>
          </a:p>
        </p:txBody>
      </p:sp>
      <p:sp>
        <p:nvSpPr>
          <p:cNvPr id="255" name="Google Shape;255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fill in the roles people play in a given week (sprint)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finish this during the first team meeting</a:t>
            </a:r>
            <a:endParaRPr/>
          </a:p>
        </p:txBody>
      </p:sp>
      <p:sp>
        <p:nvSpPr>
          <p:cNvPr id="256" name="Google Shape;256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Deliverables</a:t>
            </a:r>
            <a:endParaRPr/>
          </a:p>
        </p:txBody>
      </p:sp>
      <p:sp>
        <p:nvSpPr>
          <p:cNvPr id="262" name="Google Shape;262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provide all deliverables (homework) in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Deliverables</a:t>
            </a:r>
            <a:r>
              <a:rPr lang="en"/>
              <a:t> folder of the project’s GitHub code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Details can be found in the homework instructions</a:t>
            </a:r>
            <a:endParaRPr/>
          </a:p>
        </p:txBody>
      </p:sp>
      <p:sp>
        <p:nvSpPr>
          <p:cNvPr id="263" name="Google Shape;263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Planning Document</a:t>
            </a:r>
            <a:endParaRPr/>
          </a:p>
        </p:txBody>
      </p:sp>
      <p:sp>
        <p:nvSpPr>
          <p:cNvPr id="269" name="Google Shape;269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initialize your planning document and keep it up-to-date</a:t>
            </a:r>
            <a:endParaRPr/>
          </a:p>
        </p:txBody>
      </p:sp>
      <p:sp>
        <p:nvSpPr>
          <p:cNvPr id="270" name="Google Shape;270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Terms (The GitHub Terminology Mess)</a:t>
            </a:r>
            <a:endParaRPr/>
          </a:p>
        </p:txBody>
      </p:sp>
      <p:sp>
        <p:nvSpPr>
          <p:cNvPr id="276" name="Google Shape;276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277" name="Google Shape;277;p42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{1080B285-DD26-4382-9D89-CEF7B5E0849D}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Agile / 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Scrum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GitHub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Other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Project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Project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Repository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Backlogs [1]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Backlogs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Columns in p</a:t>
                      </a:r>
                      <a:r>
                        <a:rPr lang="en" sz="1200"/>
                        <a:t>roject [2]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Kanban board [3]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Feature board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Project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Backlog item [4]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Backlog item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Item, also issue [5]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Work item, ticket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 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Code repository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Code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78" name="Google Shape;278;p4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Backlogs can be of different types: Product backlog, sprint backlog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The columns of a GitHub project represent the different backlogs + states of 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Scrum proper does not know kanban boards, but agile in general acknowledges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[4] Backlog items can be of different types: Feature [6], refactoring, bug fix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[5] Terms vary throughout the GitHub user interface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[6] Features should be presented using the user story format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Feature Board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Board (GitHub Project)</a:t>
            </a:r>
            <a:endParaRPr/>
          </a:p>
        </p:txBody>
      </p:sp>
      <p:sp>
        <p:nvSpPr>
          <p:cNvPr id="289" name="Google Shape;289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feature board is a slotting system used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Manage the processing state of backlog items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Types of slots (work process states, represented by columns)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backlog (needs doing)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Sprint backlog (ready to be done)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progress (being worked 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Awaiting review (needs sign-off)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Feature archive (finished and archived)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do not change the feature board’s setup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90" name="Google Shape;290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Feature Board and Backlog Items</a:t>
            </a:r>
            <a:endParaRPr/>
          </a:p>
        </p:txBody>
      </p:sp>
      <p:sp>
        <p:nvSpPr>
          <p:cNvPr id="296" name="Google Shape;296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97" name="Google Shape;29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" y="0"/>
            <a:ext cx="9144003" cy="5268629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46"/>
          <p:cNvSpPr txBox="1"/>
          <p:nvPr/>
        </p:nvSpPr>
        <p:spPr>
          <a:xfrm>
            <a:off x="2286000" y="1428750"/>
            <a:ext cx="4572000" cy="22860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illustrations show labels for estimated and real sizes. Instead of using </a:t>
            </a:r>
            <a:r>
              <a:rPr lang="en" sz="1800">
                <a:solidFill>
                  <a:schemeClr val="dk1"/>
                </a:solidFill>
              </a:rPr>
              <a:t>labels, please use custom fields (see board settings). Please create the two custom fields “Estimated size” and “Real size” of type number.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backlog item is an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 semantically closed </a:t>
            </a:r>
            <a:r>
              <a:rPr b="1" lang="en"/>
              <a:t>work</a:t>
            </a:r>
            <a:r>
              <a:rPr b="1" lang="en"/>
              <a:t> that needs doing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Types of backlog items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Features</a:t>
            </a:r>
            <a:r>
              <a:rPr lang="en"/>
              <a:t> (functional and non-functional user requirements)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Refactorings</a:t>
            </a:r>
            <a:r>
              <a:rPr lang="en"/>
              <a:t> (behavior-preserving code improvements)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Bug fixes</a:t>
            </a:r>
            <a:r>
              <a:rPr lang="en"/>
              <a:t> (fixes to malfunctioning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use GitHub issues to represent backlog items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Either by directly entering them into the GitHub project (the feature board)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 by entering them as an issue, also assigning them to the feature board</a:t>
            </a:r>
            <a:endParaRPr/>
          </a:p>
        </p:txBody>
      </p:sp>
      <p:sp>
        <p:nvSpPr>
          <p:cNvPr id="309" name="Google Shape;309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Backlog Items (Also: Issue, Work Item, Ticket)</a:t>
            </a:r>
            <a:endParaRPr/>
          </a:p>
        </p:txBody>
      </p:sp>
      <p:sp>
        <p:nvSpPr>
          <p:cNvPr id="310" name="Google Shape;310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Feature Using User Story Format</a:t>
            </a:r>
            <a:endParaRPr/>
          </a:p>
        </p:txBody>
      </p:sp>
      <p:sp>
        <p:nvSpPr>
          <p:cNvPr id="316" name="Google Shape;316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17" name="Google Shape;317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8791" y="914400"/>
            <a:ext cx="5606417" cy="4114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</a:t>
            </a:r>
            <a:r>
              <a:rPr lang="en"/>
              <a:t>Issue Templates for Features</a:t>
            </a:r>
            <a:endParaRPr/>
          </a:p>
        </p:txBody>
      </p:sp>
      <p:sp>
        <p:nvSpPr>
          <p:cNvPr id="323" name="Google Shape;323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create a template for feature requests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template should contain fields for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Short name (already preset as title field)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Short description (using user story)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Acceptance criteria (to test for fulfillment)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Definition of done (from sprint 5 on)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 custom fields for features sizes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Estimated size = X </a:t>
            </a:r>
            <a:r>
              <a:rPr lang="en"/>
              <a:t> for estimated sizes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Set during sprint planning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Real size = Y </a:t>
            </a:r>
            <a:r>
              <a:rPr lang="en"/>
              <a:t> for actual size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Set during sprint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Feel free to add other templates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325" name="Google Shape;325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1452" y="914400"/>
            <a:ext cx="3528178" cy="34747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601"/>
            <a:ext cx="9144000" cy="5138284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50"/>
          <p:cNvSpPr/>
          <p:nvPr/>
        </p:nvSpPr>
        <p:spPr>
          <a:xfrm>
            <a:off x="6477900" y="3394200"/>
            <a:ext cx="1188600" cy="813900"/>
          </a:xfrm>
          <a:prstGeom prst="rect">
            <a:avLst/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Finishing Features / Closing GitHub Issues</a:t>
            </a:r>
            <a:endParaRPr/>
          </a:p>
        </p:txBody>
      </p:sp>
      <p:sp>
        <p:nvSpPr>
          <p:cNvPr id="337" name="Google Shape;337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feature board / GitHub project is just a structured view on GitHub issues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(We’ll learn that) a product owner decides on whether a feature is done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the decision, everyone can close the issue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you should close issues!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can connect your pull requests to issues and close them automatically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Feature Board</a:t>
            </a:r>
            <a:endParaRPr/>
          </a:p>
        </p:txBody>
      </p:sp>
      <p:sp>
        <p:nvSpPr>
          <p:cNvPr id="344" name="Google Shape;344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feature board and keep it up-to-date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the initial content, meet with your industry partner asap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Commit a screenshot of your feature board</a:t>
            </a:r>
            <a:endParaRPr/>
          </a:p>
        </p:txBody>
      </p:sp>
      <p:sp>
        <p:nvSpPr>
          <p:cNvPr id="345" name="Google Shape;345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Code Repository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User Setup</a:t>
            </a:r>
            <a:endParaRPr/>
          </a:p>
        </p:txBody>
      </p:sp>
      <p:sp>
        <p:nvSpPr>
          <p:cNvPr id="356" name="Google Shape;356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use only one account and </a:t>
            </a:r>
            <a:r>
              <a:rPr b="1" lang="en"/>
              <a:t>one email address and stick to it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configure your name and email address for your local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make sure this is the same information as on github.com</a:t>
            </a:r>
            <a:endParaRPr/>
          </a:p>
        </p:txBody>
      </p:sp>
      <p:sp>
        <p:nvSpPr>
          <p:cNvPr id="357" name="Google Shape;357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58" name="Google Shape;358;p54"/>
          <p:cNvSpPr txBox="1"/>
          <p:nvPr/>
        </p:nvSpPr>
        <p:spPr>
          <a:xfrm>
            <a:off x="274320" y="22860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config 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--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local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user.name "Dirk Riehle"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config 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--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local user.email "dirk@riehle.org"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Commit Sign-off</a:t>
            </a:r>
            <a:endParaRPr/>
          </a:p>
        </p:txBody>
      </p:sp>
      <p:sp>
        <p:nvSpPr>
          <p:cNvPr id="364" name="Google Shape;364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sign-off on your commits as your work using –signoff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will add your name and email address to the commit message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signifies that you agree with the project license </a:t>
            </a:r>
            <a:endParaRPr/>
          </a:p>
        </p:txBody>
      </p:sp>
      <p:sp>
        <p:nvSpPr>
          <p:cNvPr id="365" name="Google Shape;365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66" name="Google Shape;366;p55"/>
          <p:cNvSpPr txBox="1"/>
          <p:nvPr/>
        </p:nvSpPr>
        <p:spPr>
          <a:xfrm>
            <a:off x="274320" y="22860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commit -m "Fixed issue #123" --signoff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Pair Programming / Co-Authoring</a:t>
            </a:r>
            <a:endParaRPr/>
          </a:p>
        </p:txBody>
      </p:sp>
      <p:sp>
        <p:nvSpPr>
          <p:cNvPr id="372" name="Google Shape;37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are pair programming, please make sure you document this in your commits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 “Co-authored-by:” to commit message using </a:t>
            </a:r>
            <a:r>
              <a:rPr b="1" lang="en"/>
              <a:t>the correct email address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</a:t>
            </a:r>
            <a:r>
              <a:rPr lang="en"/>
              <a:t>ouble-check the syntax (otherwise co-authorship will not be recognized)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Each co-authored-by needs to be on its own line to be recognized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Declaring collaboration in the feature board is not enough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find </a:t>
            </a:r>
            <a:r>
              <a:rPr lang="en" u="sng">
                <a:solidFill>
                  <a:schemeClr val="hlink"/>
                </a:solidFill>
                <a:hlinkClick r:id="rId3"/>
              </a:rPr>
              <a:t>more detailed information on GitHub</a:t>
            </a:r>
            <a:endParaRPr/>
          </a:p>
        </p:txBody>
      </p:sp>
      <p:sp>
        <p:nvSpPr>
          <p:cNvPr id="373" name="Google Shape;373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74" name="Google Shape;374;p56"/>
          <p:cNvSpPr txBox="1"/>
          <p:nvPr/>
        </p:nvSpPr>
        <p:spPr>
          <a:xfrm>
            <a:off x="274325" y="2148840"/>
            <a:ext cx="8595300" cy="1245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commit -a -m "Fixed problem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Co-authored-by: Stefan Buchner &lt;</a:t>
            </a:r>
            <a:r>
              <a:rPr lang="en" sz="15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5"/>
              </a:rPr>
              <a:t>stefan.buchner@fau.de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Version Control and Feature Branches</a:t>
            </a:r>
            <a:endParaRPr/>
          </a:p>
        </p:txBody>
      </p:sp>
      <p:sp>
        <p:nvSpPr>
          <p:cNvPr id="380" name="Google Shape;380;p5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81" name="Google Shape;381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Your Work Count</a:t>
            </a:r>
            <a:endParaRPr/>
          </a:p>
        </p:txBody>
      </p:sp>
      <p:sp>
        <p:nvSpPr>
          <p:cNvPr id="387" name="Google Shape;387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use git, not GitHub [1], to look at your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want your programming work to count,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squash your commits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delete branches with relevant work</a:t>
            </a:r>
            <a:endParaRPr/>
          </a:p>
        </p:txBody>
      </p:sp>
      <p:sp>
        <p:nvSpPr>
          <p:cNvPr id="388" name="Google Shape;388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89" name="Google Shape;389;p5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The GitHub interface / GitHub insights does not display your data correctly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Collaboration Models</a:t>
            </a:r>
            <a:endParaRPr/>
          </a:p>
        </p:txBody>
      </p:sp>
      <p:sp>
        <p:nvSpPr>
          <p:cNvPr id="395" name="Google Shape;395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choose a “review required” collaboration model,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will take reviewing as a valid contribution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suggest that f</a:t>
            </a:r>
            <a:r>
              <a:rPr lang="en"/>
              <a:t>or each merge (pull) request you perform,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owe your team one merge request review [1]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396" name="Google Shape;396;p5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7" name="Google Shape;397;p5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Consider adding this to the team contract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Code AIs</a:t>
            </a:r>
            <a:endParaRPr/>
          </a:p>
        </p:txBody>
      </p:sp>
      <p:sp>
        <p:nvSpPr>
          <p:cNvPr id="403" name="Google Shape;403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use of code AIs is not only allowed, it is encouraged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You, the human, remain responsible for your work results, though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Under peer review, author and committer share the responsibility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During grading, we do look at the quality of your source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Sign-offs by code AIs are not accepted and a big red flag </a:t>
            </a:r>
            <a:endParaRPr/>
          </a:p>
        </p:txBody>
      </p:sp>
      <p:sp>
        <p:nvSpPr>
          <p:cNvPr id="404" name="Google Shape;404;p6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Project Licenses</a:t>
            </a:r>
            <a:endParaRPr/>
          </a:p>
        </p:txBody>
      </p:sp>
      <p:sp>
        <p:nvSpPr>
          <p:cNvPr id="410" name="Google Shape;410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source code, we use the MIT 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https://opensource.org/licenses/MIT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other data, we use the CC BY 4.0 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https://creativecommons.org/licenses/by/4.0/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6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 and Copyright Declaration in Files</a:t>
            </a:r>
            <a:endParaRPr/>
          </a:p>
        </p:txBody>
      </p:sp>
      <p:sp>
        <p:nvSpPr>
          <p:cNvPr id="417" name="Google Shape;417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use the REUSE SOFTWARE [1] format to declare license and copyright</a:t>
            </a:r>
            <a:br>
              <a:rPr lang="en"/>
            </a:br>
            <a:br>
              <a:rPr lang="en" sz="1700"/>
            </a:br>
            <a:br>
              <a:rPr lang="en" sz="1700"/>
            </a:br>
            <a:br>
              <a:rPr lang="en" sz="1700"/>
            </a:br>
            <a:br>
              <a:rPr lang="en" sz="1700"/>
            </a:b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Alternatively, just track license and contributors in MIT license file</a:t>
            </a:r>
            <a:endParaRPr/>
          </a:p>
        </p:txBody>
      </p:sp>
      <p:sp>
        <p:nvSpPr>
          <p:cNvPr id="418" name="Google Shape;418;p6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419" name="Google Shape;419;p62"/>
          <p:cNvSpPr txBox="1"/>
          <p:nvPr/>
        </p:nvSpPr>
        <p:spPr>
          <a:xfrm>
            <a:off x="0" y="4416552"/>
            <a:ext cx="7315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https://reuse.software/</a:t>
            </a:r>
            <a:r>
              <a:rPr lang="en"/>
              <a:t> </a:t>
            </a:r>
            <a:endParaRPr/>
          </a:p>
        </p:txBody>
      </p:sp>
      <p:sp>
        <p:nvSpPr>
          <p:cNvPr id="420" name="Google Shape;420;p62"/>
          <p:cNvSpPr txBox="1"/>
          <p:nvPr/>
        </p:nvSpPr>
        <p:spPr>
          <a:xfrm>
            <a:off x="274320" y="13716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SPDX-License-Identifier: MIT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SPDX-FileCopyrightText: 2010-2021 Dirk Riehle &lt;dirk@riehle.org&gt;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SPDX-FileCopyrightText: 2019 Georg Schwarz &lt;georg.schwarz@fau.de&gt;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 Governance</a:t>
            </a:r>
            <a:endParaRPr/>
          </a:p>
        </p:txBody>
      </p:sp>
      <p:sp>
        <p:nvSpPr>
          <p:cNvPr id="426" name="Google Shape;426;p6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not add copyleft-licensed libraries to your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Follow these rules of thumb on license choice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D9EAD3"/>
                </a:highlight>
              </a:rPr>
              <a:t>OK: Permissive licenses (MIT, BSD, Apache)</a:t>
            </a:r>
            <a:endParaRPr>
              <a:highlight>
                <a:srgbClr val="D9EAD3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FFF2CC"/>
                </a:highlight>
              </a:rPr>
              <a:t>May be OK: Weakly protective (a.k.a. “weak copyleft”)</a:t>
            </a:r>
            <a:endParaRPr>
              <a:highlight>
                <a:srgbClr val="FFF2CC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F4CCCC"/>
                </a:highlight>
              </a:rPr>
              <a:t>Usually not OK: Strongly protective (a.k.a. “reciprocal” or “copyleft”)</a:t>
            </a:r>
            <a:endParaRPr>
              <a:highlight>
                <a:srgbClr val="F4CCCC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CCCCCC"/>
                </a:highlight>
              </a:rPr>
              <a:t>Never OK: Non-software licenses, no license</a:t>
            </a:r>
            <a:endParaRPr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Professionals (i.e. companies) use code analyzers to check</a:t>
            </a:r>
            <a:endParaRPr/>
          </a:p>
        </p:txBody>
      </p:sp>
      <p:sp>
        <p:nvSpPr>
          <p:cNvPr id="427" name="Google Shape;427;p6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Imp-Squared Backlog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6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Impediments and Improvements (Imp-Squared) Backlog</a:t>
            </a:r>
            <a:endParaRPr/>
          </a:p>
        </p:txBody>
      </p:sp>
      <p:sp>
        <p:nvSpPr>
          <p:cNvPr id="438" name="Google Shape;438;p6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imp-squared backlog is a slotting system used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Manage the processing state of project impediments and improvements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Impediments are non-technical problems that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Holding the team and project back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Improvements are non-technical desires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Improve team performance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6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206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6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Imp-Squared Backlog</a:t>
            </a:r>
            <a:endParaRPr/>
          </a:p>
        </p:txBody>
      </p:sp>
      <p:sp>
        <p:nvSpPr>
          <p:cNvPr id="450" name="Google Shape;450;p6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imp-squared backlog and keep it up-to-date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trike="sngStrike"/>
          </a:p>
        </p:txBody>
      </p:sp>
      <p:sp>
        <p:nvSpPr>
          <p:cNvPr id="451" name="Google Shape;451;p6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</a:t>
            </a:r>
            <a:r>
              <a:rPr lang="en"/>
              <a:t>. Stand-up Emails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6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Stand-up Emails</a:t>
            </a:r>
            <a:endParaRPr/>
          </a:p>
        </p:txBody>
      </p:sp>
      <p:sp>
        <p:nvSpPr>
          <p:cNvPr id="462" name="Google Shape;462;p6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Stand-up emails are a communication mechanism that serves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regular updates about each other’s work state / progress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When writing a stand-up email, please consider these three topics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did </a:t>
            </a:r>
            <a:r>
              <a:rPr lang="en"/>
              <a:t>you</a:t>
            </a:r>
            <a:r>
              <a:rPr lang="en"/>
              <a:t> get done since you last sent a stand-up email?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are your next steps / plans of work to do? [1]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challenges are you facing?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Separate from the stand-up emails, feel free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your own communication channels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6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464" name="Google Shape;464;p6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Don’t state the obvious like “do work” or “attend meeting”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7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</a:t>
            </a:r>
            <a:r>
              <a:rPr lang="en"/>
              <a:t>Stand-up Emails</a:t>
            </a:r>
            <a:endParaRPr/>
          </a:p>
        </p:txBody>
      </p:sp>
      <p:sp>
        <p:nvSpPr>
          <p:cNvPr id="470" name="Google Shape;470;p7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</a:t>
            </a:r>
            <a:r>
              <a:rPr lang="en"/>
              <a:t>end stand-up emails using the tool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https://happy.uni1.de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least twice in total, on different days of the week</a:t>
            </a:r>
            <a:endParaRPr/>
          </a:p>
        </p:txBody>
      </p:sp>
      <p:sp>
        <p:nvSpPr>
          <p:cNvPr id="471" name="Google Shape;471;p7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472" name="Google Shape;472;p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5" y="1871100"/>
            <a:ext cx="8229599" cy="3158108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7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9. Happiness Index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7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Happiness Index [1]</a:t>
            </a:r>
            <a:endParaRPr/>
          </a:p>
        </p:txBody>
      </p:sp>
      <p:sp>
        <p:nvSpPr>
          <p:cNvPr id="483" name="Google Shape;483;p7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The happiness index tracks general satisfaction to indicate potential problems </a:t>
            </a:r>
            <a:endParaRPr/>
          </a:p>
        </p:txBody>
      </p:sp>
      <p:sp>
        <p:nvSpPr>
          <p:cNvPr id="484" name="Google Shape;484;p7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485" name="Google Shape;485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1372518"/>
            <a:ext cx="8229602" cy="297088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86" name="Google Shape;486;p7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Originally: Emotions Seismograph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7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Happiness Index</a:t>
            </a:r>
            <a:endParaRPr/>
          </a:p>
        </p:txBody>
      </p:sp>
      <p:sp>
        <p:nvSpPr>
          <p:cNvPr id="492" name="Google Shape;492;p7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Please indicate your happiness using the tool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https://happy.uni1.de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 team meeting, including the first and last one, until end of day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Your contributions (your happiness) remains anonymous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7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7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Student roles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contract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logo and T-shirt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Project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Planning document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Feature board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Code repository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coordination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Imp-squared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Stand-up emails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Happiness index</a:t>
            </a:r>
            <a:endParaRPr/>
          </a:p>
        </p:txBody>
      </p:sp>
      <p:sp>
        <p:nvSpPr>
          <p:cNvPr id="499" name="Google Shape;499;p7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00" name="Google Shape;500;p7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7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506" name="Google Shape;506;p7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7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512" name="Google Shape;512;p7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513" name="Google Shape;513;p7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