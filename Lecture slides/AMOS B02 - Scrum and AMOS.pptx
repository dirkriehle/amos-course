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91F278-94DB-47D7-BB73-DE8431C95FB5}">
  <a:tblStyle styleId="{7891F278-94DB-47D7-BB73-DE8431C95F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8fcfcbb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8fcfcbb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17014c6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17014c6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6beb4b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6beb4b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2a3f74d0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2a3f74d0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c6355d6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c6355d6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c6355d61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c6355d61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c6355d61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c6355d61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c6355d61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c6355d61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c6355d61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c6355d61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c6355d61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2c6355d61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c6355d61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c6355d61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f0d554a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f0d554a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2c6355d61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2c6355d61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7a91423c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7a91423c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2c6355d61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2c6355d61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c6355d61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2c6355d61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cf0d554a2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cf0d554a2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c6355d61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2c6355d61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c6355d61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2c6355d61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2c6355d61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2c6355d61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2c6355d61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2c6355d61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2c6355d61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2c6355d61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2c6355d61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2c6355d61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2c6355d61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2c6355d61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c6355d619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2c6355d61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c6355d61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2c6355d61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2c6355d61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2c6355d61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2c6355d61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2c6355d61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c6355d61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2c6355d61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2c6355d619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2c6355d61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2c6355d61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2c6355d61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56bd7a8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56bd7a8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2c6355d61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2c6355d61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2c6355d619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2c6355d619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52a3f74d0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52a3f74d0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2c6355d61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2c6355d61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52a3f74d0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52a3f74d0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2c6355d6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2c6355d6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1390bb5a5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1390bb5a5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1390bb5a5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1390bb5a5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390bb5a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1390bb5a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52a3f74d0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52a3f74d0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2d186861d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2d186861d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397cb0cd5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397cb0cd5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397cb0cd5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397cb0cd5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55" name="Google Shape;55;p9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10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68" name="Google Shape;68;p11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77" name="Google Shape;77;p12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78" name="Google Shape;78;p12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mailto:stefan.buchner@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mos.uni1.de" TargetMode="External"/><Relationship Id="rId4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ss.cs.fau.d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and AMOS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AMOS B02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 on Commits to Repository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Don’t forget to sign-off and</a:t>
            </a:r>
            <a:r>
              <a:rPr lang="en"/>
              <a:t> </a:t>
            </a:r>
            <a:r>
              <a:rPr lang="en"/>
              <a:t>declare your co-authors, if any [1]</a:t>
            </a:r>
            <a:endParaRPr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02" name="Google Shape;102;p16"/>
          <p:cNvSpPr txBox="1"/>
          <p:nvPr/>
        </p:nvSpPr>
        <p:spPr>
          <a:xfrm>
            <a:off x="274320" y="1371600"/>
            <a:ext cx="8595300" cy="1371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dirk@host$ git commit -a -m "Fixed problem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Co-authored-by: Stefan Buchner &lt;</a:t>
            </a:r>
            <a:r>
              <a:rPr lang="en" sz="15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stefan.buchner@fau.de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&gt;”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--signoff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For more details, please see the slide deck </a:t>
            </a:r>
            <a:r>
              <a:rPr b="1" lang="en"/>
              <a:t>AMOS B01 </a:t>
            </a:r>
            <a:r>
              <a:rPr lang="en"/>
              <a:t>on</a:t>
            </a:r>
            <a:r>
              <a:rPr b="1" lang="en"/>
              <a:t> Team and Tools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AMOS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team meeting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Meeting preparation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review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release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retrospective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planning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Software bill of materials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Software architecture</a:t>
            </a:r>
            <a:endParaRPr/>
          </a:p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The AMOS Process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in Student Projects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Widely differing abilities and experiences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100% on project, but in multiple courses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Transient rather than persistent teams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available at same place, not at same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extrinsically motivated (grades)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Context-aware instantiation of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Supporting teaching team, coaching</a:t>
            </a:r>
            <a:endParaRPr/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AMOS Project Timeline</a:t>
            </a:r>
            <a:endParaRPr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Time-boxed Sequence of Releases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release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named identifiable, consistent, and useful snapshot of the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sprint release </a:t>
            </a:r>
            <a:r>
              <a:rPr lang="en"/>
              <a:t>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release used to gather feedback from the industry partner to steer the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project release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release that is deployed to production where it is supposed to perform its job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the AMOS Project there are two releases (mid-project and final release)</a:t>
            </a:r>
            <a:endParaRPr/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Schedule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see the Schedule tab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https://amos.uni1.de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The Team Meeting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Structure of a Scrum Sprint</a:t>
            </a:r>
            <a:endParaRPr/>
          </a:p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Team Meeting</a:t>
            </a:r>
            <a:endParaRPr/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Feature Board (Recap)</a:t>
            </a:r>
            <a:endParaRPr/>
          </a:p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1a. Meeting Preparation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 owner #1 [1]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Refines backlog [2] </a:t>
            </a:r>
            <a:r>
              <a:rPr lang="en"/>
              <a:t>in a </a:t>
            </a:r>
            <a:r>
              <a:rPr b="1" lang="en"/>
              <a:t>next sprint preparation</a:t>
            </a:r>
            <a:r>
              <a:rPr lang="en"/>
              <a:t> meeting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Should include at least one developer (may want to plan this out)</a:t>
            </a:r>
            <a:endParaRPr sz="14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that the product backlog is ready for sprint planning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enough high-quality entries at least for the upcoming sprint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High-quality = meets INVEST criteria, explained later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backlog entries may be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features, bug fixes, and refactorings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77" name="Google Shape;177;p2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Product owner #1 will run the sprint planning in the upcoming team meeting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Backlog refinement is also known as backlog grooming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838" y="914388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1b. Meeting Preparation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Release manager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that a working demo system will be available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Tags release candidate with </a:t>
            </a:r>
            <a:r>
              <a:rPr b="1" lang="en"/>
              <a:t>sprint-xx-release-candidate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xx is your sprint number (see deliverables through project schedule)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325" y="1280160"/>
            <a:ext cx="3657601" cy="3080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Tagging Release Candidates and Releases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Release candidate</a:t>
            </a:r>
            <a:endParaRPr b="1"/>
          </a:p>
        </p:txBody>
      </p:sp>
      <p:sp>
        <p:nvSpPr>
          <p:cNvPr id="193" name="Google Shape;193;p29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Release [1]</a:t>
            </a:r>
            <a:endParaRPr b="1"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5" y="1280160"/>
            <a:ext cx="3657600" cy="3080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9"/>
          <p:cNvSpPr txBox="1"/>
          <p:nvPr/>
        </p:nvSpPr>
        <p:spPr>
          <a:xfrm>
            <a:off x="0" y="423355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[1] Do not rename release candidates</a:t>
            </a:r>
            <a:endParaRPr/>
          </a:p>
        </p:txBody>
      </p:sp>
      <p:sp>
        <p:nvSpPr>
          <p:cNvPr id="196" name="Google Shape;196;p29"/>
          <p:cNvSpPr/>
          <p:nvPr/>
        </p:nvSpPr>
        <p:spPr>
          <a:xfrm>
            <a:off x="4754880" y="1783080"/>
            <a:ext cx="850500" cy="27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9"/>
          <p:cNvSpPr/>
          <p:nvPr/>
        </p:nvSpPr>
        <p:spPr>
          <a:xfrm>
            <a:off x="182880" y="1783080"/>
            <a:ext cx="1097400" cy="27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5"/>
              </a:rPr>
              <a:t>https://oss.cs.fau.de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2a. Sprint Review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Release manager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Checks-out fresh code base using release candidate tag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Compiles, builds, and runs tests for release candidate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Deploys release candidate to test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release manager does not run the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838" y="914388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Backlog Items Move During Sprint Review</a:t>
            </a:r>
            <a:endParaRPr/>
          </a:p>
        </p:txBody>
      </p:sp>
      <p:sp>
        <p:nvSpPr>
          <p:cNvPr id="212" name="Google Shape;212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2b. Sprint Review</a:t>
            </a:r>
            <a:endParaRPr/>
          </a:p>
        </p:txBody>
      </p:sp>
      <p:sp>
        <p:nvSpPr>
          <p:cNvPr id="219" name="Google Shape;219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 owner #2 [1]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Walks through “Awaiting review” column item by item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Asks developer to demo item under review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Insists that developer shows, not just tells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Checks fulfillment of acceptance criteria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Checks fulfillment of definition of done, if required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Checks other criteria incl. logging output for problems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successfully implemented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Moves item to feature archive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Asks developers about real size, add it to the item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not successfully implemented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Moves item back to product backlog</a:t>
            </a:r>
            <a:endParaRPr/>
          </a:p>
        </p:txBody>
      </p:sp>
      <p:sp>
        <p:nvSpPr>
          <p:cNvPr id="221" name="Google Shape;221;p3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Product owner #2 was responsible for the last sprint planning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2c. Sprint Review</a:t>
            </a:r>
            <a:endParaRPr/>
          </a:p>
        </p:txBody>
      </p:sp>
      <p:sp>
        <p:nvSpPr>
          <p:cNvPr id="227" name="Google Shape;227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Software developer (individually)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called upon by product owner for backlog item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Demos backlog item as requested by product owner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Answers questions about item design and implementation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Provides real size as determined after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Only talking, not showing, is not acceptable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product owner needs to insist on showing not just talking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developer only talks, product owner and developer failed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3a. Sprint Release</a:t>
            </a:r>
            <a:endParaRPr/>
          </a:p>
        </p:txBody>
      </p:sp>
      <p:sp>
        <p:nvSpPr>
          <p:cNvPr id="234" name="Google Shape;234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 owner #2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Decides whether release candidate should be released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in case of significant regression should you not release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Later in the course you will use a definition of done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Specifics depend on type of release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Consults with software developers if necessary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838" y="914388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3b. Sprint Release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Release manager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release candidate is to be released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Tags release with </a:t>
            </a:r>
            <a:r>
              <a:rPr b="1" lang="en"/>
              <a:t>sprint-xx-release</a:t>
            </a:r>
            <a:r>
              <a:rPr lang="en"/>
              <a:t> where xx is your sprint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Deploys sprint release to production environment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 is a change log (optional)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Updates change log with release information</a:t>
            </a:r>
            <a:endParaRPr/>
          </a:p>
        </p:txBody>
      </p:sp>
      <p:sp>
        <p:nvSpPr>
          <p:cNvPr id="243" name="Google Shape;243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4a. Sprint Retrospective</a:t>
            </a:r>
            <a:endParaRPr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Scrum Master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Reviews this sprint’s impediments and improvements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Reports on progress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Reviews remaining problems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Performs roll call, asks everyone individually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has gone well?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hasn’t gone well?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can we do better?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Puts new impediments and improvements into imp-squared backlog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251" name="Google Shape;25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838" y="914388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4b. Sprint Retrospective</a:t>
            </a:r>
            <a:endParaRPr/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Everyone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Answers to happiness index</a:t>
            </a:r>
            <a:endParaRPr/>
          </a:p>
        </p:txBody>
      </p:sp>
      <p:sp>
        <p:nvSpPr>
          <p:cNvPr id="258" name="Google Shape;258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5a. Sprint Planning</a:t>
            </a:r>
            <a:endParaRPr/>
          </a:p>
        </p:txBody>
      </p:sp>
      <p:sp>
        <p:nvSpPr>
          <p:cNvPr id="264" name="Google Shape;264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65" name="Google Shape;265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Product owner #1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Reprioritizes product backlog items, if necessary, on-the-fly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through top-prioritized backlog items one-by-one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product backlog item,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explains it,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asks developers to estimate and commit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are finished, if the team does not want to take on more backlog items</a:t>
            </a:r>
            <a:endParaRPr/>
          </a:p>
        </p:txBody>
      </p:sp>
      <p:pic>
        <p:nvPicPr>
          <p:cNvPr id="266" name="Google Shape;26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838" y="914388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5b. Sprint Planning</a:t>
            </a:r>
            <a:endParaRPr/>
          </a:p>
        </p:txBody>
      </p:sp>
      <p:sp>
        <p:nvSpPr>
          <p:cNvPr id="272" name="Google Shape;272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73" name="Google Shape;273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Software developers (as team)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Estimate size of each backlog item using planning poker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planning, commit to backlog items in sprint backlog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 Points</a:t>
            </a:r>
            <a:endParaRPr/>
          </a:p>
        </p:txBody>
      </p:sp>
      <p:sp>
        <p:nvSpPr>
          <p:cNvPr id="279" name="Google Shape;279;p40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Story points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 an arbitrary numeric measure of size of a given backlog item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Properties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 a measure of size, not of effort or duration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Measured in non-linear increments, forcing choice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 socially agreed upon, depends on team estimation history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 independent of a particular person (and their skills)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 mapped to time using the team's velocity (development speed)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/>
          </a:p>
        </p:txBody>
      </p:sp>
      <p:graphicFrame>
        <p:nvGraphicFramePr>
          <p:cNvPr id="281" name="Google Shape;281;p40"/>
          <p:cNvGraphicFramePr/>
          <p:nvPr/>
        </p:nvGraphicFramePr>
        <p:xfrm>
          <a:off x="46634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{7891F278-94DB-47D7-BB73-DE8431C95FB5}</a:tableStyleId>
              </a:tblPr>
              <a:tblGrid>
                <a:gridCol w="2103125"/>
                <a:gridCol w="2103125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Points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Meaning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size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Trivial size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Small size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 size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Large size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large size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 large (size)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Planning with Planning Poker [1]</a:t>
            </a:r>
            <a:endParaRPr/>
          </a:p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sp>
        <p:nvSpPr>
          <p:cNvPr id="288" name="Google Shape;288;p41"/>
          <p:cNvSpPr txBox="1"/>
          <p:nvPr/>
        </p:nvSpPr>
        <p:spPr>
          <a:xfrm>
            <a:off x="0" y="423355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Please find a simple planning poker tool in your planning documents</a:t>
            </a:r>
            <a:endParaRPr/>
          </a:p>
        </p:txBody>
      </p:sp>
      <p:pic>
        <p:nvPicPr>
          <p:cNvPr id="289" name="Google Shape;28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6a. Meeting After-work</a:t>
            </a:r>
            <a:endParaRPr/>
          </a:p>
        </p:txBody>
      </p:sp>
      <p:sp>
        <p:nvSpPr>
          <p:cNvPr id="295" name="Google Shape;295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 owner #2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Updates planning document to consistent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Cleans up product and sprint backlog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Ensures feature archive is current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297" name="Google Shape;2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838" y="914388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6b. Meeting After-work</a:t>
            </a:r>
            <a:endParaRPr/>
          </a:p>
        </p:txBody>
      </p:sp>
      <p:sp>
        <p:nvSpPr>
          <p:cNvPr id="303" name="Google Shape;303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Software developer (as team)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 programming tasks (1 feature = 1+ tasks)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Agree on which developer(s) work(s) on which tasks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pair programming, ensure you document the pair</a:t>
            </a:r>
            <a:endParaRPr/>
          </a:p>
        </p:txBody>
      </p:sp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6c. Meeting After-work</a:t>
            </a:r>
            <a:endParaRPr/>
          </a:p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Scrum Master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on impediments and improvements during sprint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Documents resolutions in imp-squared backlog</a:t>
            </a:r>
            <a:endParaRPr/>
          </a:p>
        </p:txBody>
      </p:sp>
      <p:sp>
        <p:nvSpPr>
          <p:cNvPr id="311" name="Google Shape;311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Efficient Team Meeting Takes 90 Min. (or Less)</a:t>
            </a:r>
            <a:endParaRPr/>
          </a:p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318" name="Google Shape;318;p45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{7891F278-94DB-47D7-BB73-DE8431C95FB5}</a:tableStyleId>
              </a:tblPr>
              <a:tblGrid>
                <a:gridCol w="638675"/>
                <a:gridCol w="2290400"/>
                <a:gridCol w="56663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Section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Meeting preparation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Sprint review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~35%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Sprint release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~5%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Sprint retrospective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~20%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Sprint planning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~40%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Meeting after-work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Time in Team Meetings</a:t>
            </a:r>
            <a:endParaRPr/>
          </a:p>
        </p:txBody>
      </p:sp>
      <p:sp>
        <p:nvSpPr>
          <p:cNvPr id="324" name="Google Shape;324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25" name="Google Shape;325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aim to finish in time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want to finish in time to be ready for the upcoming sprint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the beginning, retrospectives may take more time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they consume too much time, move them outside the team meeting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45 min. retrospectives hurt everyone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Software Bill of Materials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of Materials [1]</a:t>
            </a:r>
            <a:endParaRPr/>
          </a:p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bill of materials</a:t>
            </a:r>
            <a:r>
              <a:rPr lang="en"/>
              <a:t> (of some artifact)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linear list of materials (the parts) constituting the artifact (the whole)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bill of materials can contain any kind of material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just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purely software, the bill of materials is also called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bill of materials (SBOM)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338" name="Google Shape;338;p4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German: Stückliste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Bill of Materials (SBOM)</a:t>
            </a:r>
            <a:endParaRPr/>
          </a:p>
        </p:txBody>
      </p:sp>
      <p:sp>
        <p:nvSpPr>
          <p:cNvPr id="344" name="Google Shape;344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each dependency, provide this (recommended, not required) information</a:t>
            </a:r>
            <a:endParaRPr/>
          </a:p>
        </p:txBody>
      </p:sp>
      <p:sp>
        <p:nvSpPr>
          <p:cNvPr id="345" name="Google Shape;345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graphicFrame>
        <p:nvGraphicFramePr>
          <p:cNvPr id="346" name="Google Shape;346;p49"/>
          <p:cNvGraphicFramePr/>
          <p:nvPr/>
        </p:nvGraphicFramePr>
        <p:xfrm>
          <a:off x="2743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{7891F278-94DB-47D7-BB73-DE8431C95FB5}</a:tableStyleId>
              </a:tblPr>
              <a:tblGrid>
                <a:gridCol w="1280725"/>
                <a:gridCol w="3657325"/>
                <a:gridCol w="3657325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Field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Name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Context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com.google.code.gson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gson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Version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2.3.1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License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Apache-2.0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Comment (optional)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Pulled from Maven Central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Deliverable: Software Bill of Materials</a:t>
            </a:r>
            <a:endParaRPr/>
          </a:p>
        </p:txBody>
      </p:sp>
      <p:sp>
        <p:nvSpPr>
          <p:cNvPr id="352" name="Google Shape;352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initialize your software bill of materials and keep it up-to-date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limit this to your first-level dependencies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can use a tool, e.g. a build tool plugin to generate the SBOM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Please update every time you change your dependencies </a:t>
            </a:r>
            <a:endParaRPr/>
          </a:p>
        </p:txBody>
      </p:sp>
      <p:sp>
        <p:nvSpPr>
          <p:cNvPr id="353" name="Google Shape;353;p5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Software Architecture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Architecture?!</a:t>
            </a:r>
            <a:endParaRPr/>
          </a:p>
        </p:txBody>
      </p:sp>
      <p:sp>
        <p:nvSpPr>
          <p:cNvPr id="364" name="Google Shape;364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methods eschew detailed planning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proof of the software is in the feedback of the customer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Software architecture is the overall design of a system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Including static (structural) and dynamic aspects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Covering everything of wide impact to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Ignoring everything with limited (localized) impact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Agile software architecture is software architecture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Emerges from risk-adjusted planning / visibility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Delays architectural investment to the last minute</a:t>
            </a:r>
            <a:endParaRPr/>
          </a:p>
        </p:txBody>
      </p:sp>
      <p:sp>
        <p:nvSpPr>
          <p:cNvPr id="365" name="Google Shape;365;p5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Architecture</a:t>
            </a:r>
            <a:endParaRPr/>
          </a:p>
        </p:txBody>
      </p:sp>
      <p:sp>
        <p:nvSpPr>
          <p:cNvPr id="371" name="Google Shape;371;p5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72" name="Google Shape;37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at Runtime</a:t>
            </a:r>
            <a:endParaRPr/>
          </a:p>
        </p:txBody>
      </p:sp>
      <p:sp>
        <p:nvSpPr>
          <p:cNvPr id="378" name="Google Shape;378;p5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79" name="Google Shape;37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Organization</a:t>
            </a:r>
            <a:endParaRPr/>
          </a:p>
        </p:txBody>
      </p:sp>
      <p:sp>
        <p:nvSpPr>
          <p:cNvPr id="385" name="Google Shape;385;p5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86" name="Google Shape;38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Architecture Description</a:t>
            </a:r>
            <a:endParaRPr/>
          </a:p>
        </p:txBody>
      </p:sp>
      <p:sp>
        <p:nvSpPr>
          <p:cNvPr id="392" name="Google Shape;392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a description of the initial planned architecture including (at a minimum)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runtime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(static) code organization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tech stack you are building 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Feel free at the end of the project to review planning with reality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99" name="Google Shape;399;p5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AMOS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team meeting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Meeting preparation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review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release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retrospective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planning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Software bill of materials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Software architecture</a:t>
            </a:r>
            <a:endParaRPr/>
          </a:p>
        </p:txBody>
      </p:sp>
      <p:sp>
        <p:nvSpPr>
          <p:cNvPr id="400" name="Google Shape;400;p5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406" name="Google Shape;406;p5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412" name="Google Shape;412;p5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413" name="Google Shape;413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2009-2026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MO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