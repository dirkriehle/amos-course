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60" r:id="rId5"/>
    <p:sldMasterId id="214748366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F49017-D488-4D14-BD19-3D1265C67C6A}">
  <a:tblStyle styleId="{28F49017-D488-4D14-BD19-3D1265C67C6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44" Type="http://schemas.openxmlformats.org/officeDocument/2006/relationships/slide" Target="slides/slide37.xml"/><Relationship Id="rId43" Type="http://schemas.openxmlformats.org/officeDocument/2006/relationships/slide" Target="slides/slide36.xml"/><Relationship Id="rId46" Type="http://schemas.openxmlformats.org/officeDocument/2006/relationships/slide" Target="slides/slide39.xml"/><Relationship Id="rId45" Type="http://schemas.openxmlformats.org/officeDocument/2006/relationships/slide" Target="slides/slide38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2.xml"/><Relationship Id="rId48" Type="http://schemas.openxmlformats.org/officeDocument/2006/relationships/slide" Target="slides/slide41.xml"/><Relationship Id="rId47" Type="http://schemas.openxmlformats.org/officeDocument/2006/relationships/slide" Target="slides/slide40.xml"/><Relationship Id="rId49" Type="http://schemas.openxmlformats.org/officeDocument/2006/relationships/slide" Target="slides/slide42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33" Type="http://schemas.openxmlformats.org/officeDocument/2006/relationships/slide" Target="slides/slide26.xml"/><Relationship Id="rId32" Type="http://schemas.openxmlformats.org/officeDocument/2006/relationships/slide" Target="slides/slide25.xml"/><Relationship Id="rId35" Type="http://schemas.openxmlformats.org/officeDocument/2006/relationships/slide" Target="slides/slide28.xml"/><Relationship Id="rId34" Type="http://schemas.openxmlformats.org/officeDocument/2006/relationships/slide" Target="slides/slide27.xml"/><Relationship Id="rId37" Type="http://schemas.openxmlformats.org/officeDocument/2006/relationships/slide" Target="slides/slide30.xml"/><Relationship Id="rId36" Type="http://schemas.openxmlformats.org/officeDocument/2006/relationships/slide" Target="slides/slide29.xml"/><Relationship Id="rId39" Type="http://schemas.openxmlformats.org/officeDocument/2006/relationships/slide" Target="slides/slide32.xml"/><Relationship Id="rId38" Type="http://schemas.openxmlformats.org/officeDocument/2006/relationships/slide" Target="slides/slide31.xml"/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29" Type="http://schemas.openxmlformats.org/officeDocument/2006/relationships/slide" Target="slides/slide22.xml"/><Relationship Id="rId51" Type="http://schemas.openxmlformats.org/officeDocument/2006/relationships/slide" Target="slides/slide44.xml"/><Relationship Id="rId50" Type="http://schemas.openxmlformats.org/officeDocument/2006/relationships/slide" Target="slides/slide43.xml"/><Relationship Id="rId11" Type="http://schemas.openxmlformats.org/officeDocument/2006/relationships/slide" Target="slides/slide4.xml"/><Relationship Id="rId10" Type="http://schemas.openxmlformats.org/officeDocument/2006/relationships/slide" Target="slides/slide3.xml"/><Relationship Id="rId13" Type="http://schemas.openxmlformats.org/officeDocument/2006/relationships/slide" Target="slides/slide6.xml"/><Relationship Id="rId12" Type="http://schemas.openxmlformats.org/officeDocument/2006/relationships/slide" Target="slides/slide5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2cd8fcfcbb8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2cd8fcfcbb8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f17014c61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f17014c61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e56beb4b3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1e56beb4b3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152a3f74d0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152a3f74d0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2c6355d61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2c6355d61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2c6355d619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2c6355d619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2c6355d619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2c6355d619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2c6355d619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2c6355d619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22c6355d61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22c6355d61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22c6355d619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22c6355d619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22c6355d61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22c6355d61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cf0d554a2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2cf0d554a2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2c6355d619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22c6355d619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67a91423c4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67a91423c4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22c6355d619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22c6355d619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22c6355d619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22c6355d619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cf0d554a2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cf0d554a2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2c6355d619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22c6355d619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22c6355d619_0_2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22c6355d619_0_2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22c6355d619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22c6355d619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22c6355d619_0_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22c6355d619_0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2c6355d619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2c6355d619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22c6355d619_0_2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22c6355d619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2c6355d619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2c6355d619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22c6355d619_0_2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22c6355d619_0_2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22c6355d619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22c6355d619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22c6355d619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22c6355d619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2c6355d619_0_1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2c6355d619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2c6355d619_0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22c6355d619_0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22c6355d619_0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22c6355d619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22c6355d619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22c6355d619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2c6355d619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2c6355d619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2c6355d619_0_2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22c6355d619_0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152a3f74d0d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152a3f74d0d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22c6355d619_0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22c6355d619_0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152a3f74d0d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9" name="Google Shape;349;g152a3f74d0d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22c6355d61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22c6355d61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1390bb5a5a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31390bb5a5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6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1390bb5a5a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1390bb5a5a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1390bb5a5a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31390bb5a5a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152a3f74d0d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152a3f74d0d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2d186861d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2d186861d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397cb0cd5f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397cb0cd5f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2397cb0cd5f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2397cb0cd5f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oss.cs.fau.de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hyperlink" Target="https://uni1.de/amos" TargetMode="Externa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12" name="Google Shape;12;p2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13" name="Google Shape;13;p2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18" name="Google Shape;18;p3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19" name="Google Shape;19;p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27" name="Google Shape;27;p4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35" name="Google Shape;35;p5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36" name="Google Shape;36;p5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5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5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https://oss.cs.fau.de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42" name="Google Shape;42;p6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43" name="Google Shape;43;p6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3" name="Google Shape;53;p9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grpSp>
        <p:nvGrpSpPr>
          <p:cNvPr id="54" name="Google Shape;54;p9"/>
          <p:cNvGrpSpPr/>
          <p:nvPr/>
        </p:nvGrpSpPr>
        <p:grpSpPr>
          <a:xfrm>
            <a:off x="0" y="2388810"/>
            <a:ext cx="9144000" cy="183000"/>
            <a:chOff x="0" y="2388810"/>
            <a:chExt cx="9144000" cy="183000"/>
          </a:xfrm>
        </p:grpSpPr>
        <p:sp>
          <p:nvSpPr>
            <p:cNvPr id="55" name="Google Shape;55;p9"/>
            <p:cNvSpPr/>
            <p:nvPr/>
          </p:nvSpPr>
          <p:spPr>
            <a:xfrm>
              <a:off x="0" y="2388810"/>
              <a:ext cx="914400" cy="183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9"/>
            <p:cNvSpPr/>
            <p:nvPr/>
          </p:nvSpPr>
          <p:spPr>
            <a:xfrm>
              <a:off x="914400" y="2388810"/>
              <a:ext cx="1828800" cy="183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" name="Google Shape;57;p9"/>
            <p:cNvSpPr/>
            <p:nvPr/>
          </p:nvSpPr>
          <p:spPr>
            <a:xfrm>
              <a:off x="2743200" y="2388810"/>
              <a:ext cx="6400800" cy="183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grpSp>
        <p:nvGrpSpPr>
          <p:cNvPr id="60" name="Google Shape;60;p10"/>
          <p:cNvGrpSpPr/>
          <p:nvPr/>
        </p:nvGrpSpPr>
        <p:grpSpPr>
          <a:xfrm>
            <a:off x="0" y="2432304"/>
            <a:ext cx="9144000" cy="91500"/>
            <a:chOff x="0" y="2386584"/>
            <a:chExt cx="9144000" cy="91500"/>
          </a:xfrm>
        </p:grpSpPr>
        <p:sp>
          <p:nvSpPr>
            <p:cNvPr id="61" name="Google Shape;61;p10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0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" name="Google Shape;63;p10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68" name="Google Shape;68;p11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69" name="Google Shape;69;p11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1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1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4" name="Google Shape;74;p12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5" name="Google Shape;75;p12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1"/>
                </a:solidFill>
              </a:defRPr>
            </a:lvl1pPr>
            <a:lvl2pPr lvl="1">
              <a:buNone/>
              <a:defRPr>
                <a:solidFill>
                  <a:schemeClr val="dk1"/>
                </a:solidFill>
              </a:defRPr>
            </a:lvl2pPr>
            <a:lvl3pPr lvl="2">
              <a:buNone/>
              <a:defRPr>
                <a:solidFill>
                  <a:schemeClr val="dk1"/>
                </a:solidFill>
              </a:defRPr>
            </a:lvl3pPr>
            <a:lvl4pPr lvl="3">
              <a:buNone/>
              <a:defRPr>
                <a:solidFill>
                  <a:schemeClr val="dk1"/>
                </a:solidFill>
              </a:defRPr>
            </a:lvl4pPr>
            <a:lvl5pPr lvl="4">
              <a:buNone/>
              <a:defRPr>
                <a:solidFill>
                  <a:schemeClr val="dk1"/>
                </a:solidFill>
              </a:defRPr>
            </a:lvl5pPr>
            <a:lvl6pPr lvl="5">
              <a:buNone/>
              <a:defRPr>
                <a:solidFill>
                  <a:schemeClr val="dk1"/>
                </a:solidFill>
              </a:defRPr>
            </a:lvl6pPr>
            <a:lvl7pPr lvl="6">
              <a:buNone/>
              <a:defRPr>
                <a:solidFill>
                  <a:schemeClr val="dk1"/>
                </a:solidFill>
              </a:defRPr>
            </a:lvl7pPr>
            <a:lvl8pPr lvl="7">
              <a:buNone/>
              <a:defRPr>
                <a:solidFill>
                  <a:schemeClr val="dk1"/>
                </a:solidFill>
              </a:defRPr>
            </a:lvl8pPr>
            <a:lvl9pPr lvl="8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 b="0" sz="900">
              <a:solidFill>
                <a:schemeClr val="dk2"/>
              </a:solidFill>
            </a:endParaRPr>
          </a:p>
        </p:txBody>
      </p:sp>
      <p:grpSp>
        <p:nvGrpSpPr>
          <p:cNvPr id="77" name="Google Shape;77;p12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78" name="Google Shape;78;p12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2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2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3" name="Google Shape;83;p1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buNone/>
              <a:defRPr>
                <a:solidFill>
                  <a:schemeClr val="dk1"/>
                </a:solidFill>
              </a:defRPr>
            </a:lvl1pPr>
            <a:lvl2pPr lvl="1" rtl="0">
              <a:buNone/>
              <a:defRPr>
                <a:solidFill>
                  <a:schemeClr val="dk1"/>
                </a:solidFill>
              </a:defRPr>
            </a:lvl2pPr>
            <a:lvl3pPr lvl="2" rtl="0">
              <a:buNone/>
              <a:defRPr>
                <a:solidFill>
                  <a:schemeClr val="dk1"/>
                </a:solidFill>
              </a:defRPr>
            </a:lvl3pPr>
            <a:lvl4pPr lvl="3" rtl="0">
              <a:buNone/>
              <a:defRPr>
                <a:solidFill>
                  <a:schemeClr val="dk1"/>
                </a:solidFill>
              </a:defRPr>
            </a:lvl4pPr>
            <a:lvl5pPr lvl="4" rtl="0">
              <a:buNone/>
              <a:defRPr>
                <a:solidFill>
                  <a:schemeClr val="dk1"/>
                </a:solidFill>
              </a:defRPr>
            </a:lvl5pPr>
            <a:lvl6pPr lvl="5" rtl="0">
              <a:buNone/>
              <a:defRPr>
                <a:solidFill>
                  <a:schemeClr val="dk1"/>
                </a:solidFill>
              </a:defRPr>
            </a:lvl6pPr>
            <a:lvl7pPr lvl="6" rtl="0">
              <a:buNone/>
              <a:defRPr>
                <a:solidFill>
                  <a:schemeClr val="dk1"/>
                </a:solidFill>
              </a:defRPr>
            </a:lvl7pPr>
            <a:lvl8pPr lvl="7" rtl="0">
              <a:buNone/>
              <a:defRPr>
                <a:solidFill>
                  <a:schemeClr val="dk1"/>
                </a:solidFill>
              </a:defRPr>
            </a:lvl8pPr>
            <a:lvl9pPr lvl="8" rtl="0">
              <a:buNone/>
              <a:defRPr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2"/>
              </a:rPr>
              <a:t>https://uni1.de/amos</a:t>
            </a:r>
            <a:r>
              <a:rPr b="0" lang="en" sz="900">
                <a:solidFill>
                  <a:schemeClr val="dk2"/>
                </a:solidFill>
              </a:rPr>
              <a:t> </a:t>
            </a:r>
            <a:endParaRPr>
              <a:solidFill>
                <a:schemeClr val="dk2"/>
              </a:solidFill>
            </a:endParaRPr>
          </a:p>
        </p:txBody>
      </p:sp>
      <p:grpSp>
        <p:nvGrpSpPr>
          <p:cNvPr id="84" name="Google Shape;84;p13"/>
          <p:cNvGrpSpPr/>
          <p:nvPr/>
        </p:nvGrpSpPr>
        <p:grpSpPr>
          <a:xfrm>
            <a:off x="0" y="685800"/>
            <a:ext cx="9144000" cy="91500"/>
            <a:chOff x="0" y="2386584"/>
            <a:chExt cx="9144000" cy="91500"/>
          </a:xfrm>
        </p:grpSpPr>
        <p:sp>
          <p:nvSpPr>
            <p:cNvPr id="85" name="Google Shape;85;p13"/>
            <p:cNvSpPr/>
            <p:nvPr/>
          </p:nvSpPr>
          <p:spPr>
            <a:xfrm>
              <a:off x="0" y="2386584"/>
              <a:ext cx="914400" cy="9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3"/>
            <p:cNvSpPr/>
            <p:nvPr/>
          </p:nvSpPr>
          <p:spPr>
            <a:xfrm>
              <a:off x="914400" y="2386584"/>
              <a:ext cx="1828800" cy="915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13"/>
            <p:cNvSpPr/>
            <p:nvPr/>
          </p:nvSpPr>
          <p:spPr>
            <a:xfrm>
              <a:off x="2743200" y="2386584"/>
              <a:ext cx="6400800" cy="915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s://oss.cs.fau.de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hyperlink" Target="https://uni1.de/amos" TargetMode="Externa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2"/>
                </a:solidFill>
              </a:defRPr>
            </a:lvl1pPr>
            <a:lvl2pPr lvl="1" rtl="0" algn="r">
              <a:buNone/>
              <a:defRPr b="1" sz="2400">
                <a:solidFill>
                  <a:schemeClr val="dk2"/>
                </a:solidFill>
              </a:defRPr>
            </a:lvl2pPr>
            <a:lvl3pPr lvl="2" rtl="0" algn="r">
              <a:buNone/>
              <a:defRPr b="1" sz="2400">
                <a:solidFill>
                  <a:schemeClr val="dk2"/>
                </a:solidFill>
              </a:defRPr>
            </a:lvl3pPr>
            <a:lvl4pPr lvl="3" rtl="0" algn="r">
              <a:buNone/>
              <a:defRPr b="1" sz="2400">
                <a:solidFill>
                  <a:schemeClr val="dk2"/>
                </a:solidFill>
              </a:defRPr>
            </a:lvl4pPr>
            <a:lvl5pPr lvl="4" rtl="0" algn="r">
              <a:buNone/>
              <a:defRPr b="1" sz="2400">
                <a:solidFill>
                  <a:schemeClr val="dk2"/>
                </a:solidFill>
              </a:defRPr>
            </a:lvl5pPr>
            <a:lvl6pPr lvl="5" rtl="0" algn="r">
              <a:buNone/>
              <a:defRPr b="1" sz="2400">
                <a:solidFill>
                  <a:schemeClr val="dk2"/>
                </a:solidFill>
              </a:defRPr>
            </a:lvl6pPr>
            <a:lvl7pPr lvl="6" rtl="0" algn="r">
              <a:buNone/>
              <a:defRPr b="1" sz="2400">
                <a:solidFill>
                  <a:schemeClr val="dk2"/>
                </a:solidFill>
              </a:defRPr>
            </a:lvl7pPr>
            <a:lvl8pPr lvl="7" rtl="0" algn="r">
              <a:buNone/>
              <a:defRPr b="1" sz="2400">
                <a:solidFill>
                  <a:schemeClr val="dk2"/>
                </a:solidFill>
              </a:defRPr>
            </a:lvl8pPr>
            <a:lvl9pPr lvl="8" rtl="0" algn="r">
              <a:buNone/>
              <a:defRPr b="1" sz="24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1"/>
              </a:rPr>
              <a:t>https://uni1.de/amos</a:t>
            </a:r>
            <a:r>
              <a:rPr b="0" lang="en" sz="900"/>
              <a:t> </a:t>
            </a:r>
            <a:endParaRPr b="0" sz="9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mailto:stefan.buchner@fau.de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oss.cs.fau.de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oss.cs.fau.de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ss.cs.fau.de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amos.uni1.de" TargetMode="External"/><Relationship Id="rId4" Type="http://schemas.openxmlformats.org/officeDocument/2006/relationships/hyperlink" Target="https://oss.cs.fau.de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oss.cs.fau.de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hyperlink" Target="https://oss.cs.fau.de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oss.cs.fau.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oss.cs.fau.de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oss.cs.fau.de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oss.cs.fau.de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oss.cs.fau.de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oss.cs.fau.de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oss.cs.fau.de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oss.cs.fau.de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oss.cs.fau.de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oss.cs.fau.de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oss.cs.fau.de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oss.cs.fau.de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s://oss.cs.fau.de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0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s://oss.cs.fau.de" TargetMode="External"/><Relationship Id="rId4" Type="http://schemas.openxmlformats.org/officeDocument/2006/relationships/image" Target="../media/image15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s://oss.cs.fau.de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oss.cs.fau.de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oss.cs.fau.de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and AMOS</a:t>
            </a:r>
            <a:endParaRPr/>
          </a:p>
        </p:txBody>
      </p:sp>
      <p:sp>
        <p:nvSpPr>
          <p:cNvPr id="94" name="Google Shape;94;p1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AMOS B02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Reminder on Commits to Repository</a:t>
            </a:r>
            <a:endParaRPr/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Don’t forget to sign-off and</a:t>
            </a:r>
            <a:r>
              <a:rPr lang="en"/>
              <a:t> </a:t>
            </a:r>
            <a:r>
              <a:rPr lang="en"/>
              <a:t>declare your co-authors, if any [1]</a:t>
            </a:r>
            <a:endParaRPr/>
          </a:p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02" name="Google Shape;102;p16"/>
          <p:cNvSpPr txBox="1"/>
          <p:nvPr/>
        </p:nvSpPr>
        <p:spPr>
          <a:xfrm>
            <a:off x="274320" y="1371600"/>
            <a:ext cx="8595300" cy="137160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dirk@host$ git commit -a -m "Fixed problem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Co-authored-by: Stefan Buchner &lt;</a:t>
            </a:r>
            <a:r>
              <a:rPr lang="en" sz="1500" u="sng">
                <a:solidFill>
                  <a:schemeClr val="hlink"/>
                </a:solidFill>
                <a:latin typeface="Courier New"/>
                <a:ea typeface="Courier New"/>
                <a:cs typeface="Courier New"/>
                <a:sym typeface="Courier New"/>
                <a:hlinkClick r:id="rId4"/>
              </a:rPr>
              <a:t>stefan.buchner@fau.de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&gt;”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&gt; </a:t>
            </a:r>
            <a:r>
              <a:rPr lang="en" sz="15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--signoff</a:t>
            </a:r>
            <a:endParaRPr sz="150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For more details, please see the slide deck </a:t>
            </a:r>
            <a:r>
              <a:rPr b="1" lang="en"/>
              <a:t>AMOS B01 </a:t>
            </a:r>
            <a:r>
              <a:rPr lang="en"/>
              <a:t>on</a:t>
            </a:r>
            <a:r>
              <a:rPr b="1" lang="en"/>
              <a:t> Team and Tools</a:t>
            </a:r>
            <a:endParaRPr b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AMOS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team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Meeting preparation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retrospective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planning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bill of materials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architecture</a:t>
            </a:r>
            <a:endParaRPr/>
          </a:p>
        </p:txBody>
      </p:sp>
      <p:sp>
        <p:nvSpPr>
          <p:cNvPr id="110" name="Google Shape;110;p1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The AMOS Process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Scrum in Student Projects</a:t>
            </a:r>
            <a:endParaRPr/>
          </a:p>
        </p:txBody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Challenges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Widely differing abilities and experiences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100% on project, but in multiple courses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Transient rather than persistent teams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available at same place, not at same time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Sometimes extrinsically motivated (grades)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Solutions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Context-aware instantiation of framework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Supporting teaching team, coaching</a:t>
            </a:r>
            <a:endParaRPr/>
          </a:p>
        </p:txBody>
      </p:sp>
      <p:sp>
        <p:nvSpPr>
          <p:cNvPr id="122" name="Google Shape;122;p1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Overall AMOS Project Timeline</a:t>
            </a:r>
            <a:endParaRPr/>
          </a:p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29" name="Google Shape;129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Time-boxed Sequence of Releases</a:t>
            </a:r>
            <a:endParaRPr/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release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named identifiable, consistent, and useful snapshot of the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sprint release </a:t>
            </a:r>
            <a:r>
              <a:rPr lang="en"/>
              <a:t>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release used to gather feedback from the industry partner to steer the project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project release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release that is deployed to production where it is supposed to perform its job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In the AMOS Project there are two releases (mid-project and final release)</a:t>
            </a:r>
            <a:endParaRPr/>
          </a:p>
        </p:txBody>
      </p:sp>
      <p:sp>
        <p:nvSpPr>
          <p:cNvPr id="136" name="Google Shape;136;p2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Schedule</a:t>
            </a:r>
            <a:endParaRPr/>
          </a:p>
        </p:txBody>
      </p:sp>
      <p:sp>
        <p:nvSpPr>
          <p:cNvPr id="142" name="Google Shape;142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see the Schedule tab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https://amos.uni1.de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4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The Team Meeting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Logical Structure of a Scrum Sprint</a:t>
            </a:r>
            <a:endParaRPr/>
          </a:p>
        </p:txBody>
      </p:sp>
      <p:sp>
        <p:nvSpPr>
          <p:cNvPr id="154" name="Google Shape;154;p2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55" name="Google Shape;155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Team Meeting</a:t>
            </a:r>
            <a:endParaRPr/>
          </a:p>
        </p:txBody>
      </p:sp>
      <p:sp>
        <p:nvSpPr>
          <p:cNvPr id="161" name="Google Shape;161;p2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62" name="Google Shape;16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AMOS Feature Board (Recap)</a:t>
            </a:r>
            <a:endParaRPr/>
          </a:p>
        </p:txBody>
      </p:sp>
      <p:sp>
        <p:nvSpPr>
          <p:cNvPr id="168" name="Google Shape;168;p2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1a. Meeting Preparation</a:t>
            </a:r>
            <a:endParaRPr/>
          </a:p>
        </p:txBody>
      </p:sp>
      <p:sp>
        <p:nvSpPr>
          <p:cNvPr id="175" name="Google Shape;175;p2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#1 [1]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Refines backlog [2] </a:t>
            </a:r>
            <a:r>
              <a:rPr lang="en"/>
              <a:t>in a </a:t>
            </a:r>
            <a:r>
              <a:rPr b="1" lang="en"/>
              <a:t>next sprint preparation</a:t>
            </a:r>
            <a:r>
              <a:rPr lang="en"/>
              <a:t>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Should include at least one developer (may want to plan this out)</a:t>
            </a:r>
            <a:endParaRPr sz="14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Ensures that the product backlog is ready for sprint planning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There are enough high-quality entries at least for the upcoming sprint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High-quality = meets INVEST criteria, explained later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Product backlog entries may be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New features, bug fixes, and refactorings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2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177" name="Google Shape;177;p2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Product owner #1 will run the sprint planning in the upcoming team meeting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[2] Backlog refinement is also known as backlog grooming</a:t>
            </a:r>
            <a:endParaRPr/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1b. Meeting Preparation</a:t>
            </a:r>
            <a:endParaRPr/>
          </a:p>
        </p:txBody>
      </p:sp>
      <p:sp>
        <p:nvSpPr>
          <p:cNvPr id="184" name="Google Shape;184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Ensures that a working demo system will be available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Tags release candidate with </a:t>
            </a:r>
            <a:r>
              <a:rPr b="1" lang="en"/>
              <a:t>sprint-xx-release-candidate</a:t>
            </a:r>
            <a:endParaRPr b="1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xx is your sprint number (see deliverables through project schedule)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2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6325" y="1280160"/>
            <a:ext cx="3657601" cy="3080512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Tagging Release Candidates and Releases</a:t>
            </a:r>
            <a:endParaRPr/>
          </a:p>
        </p:txBody>
      </p:sp>
      <p:sp>
        <p:nvSpPr>
          <p:cNvPr id="192" name="Google Shape;192;p29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Release candidate</a:t>
            </a:r>
            <a:endParaRPr b="1"/>
          </a:p>
        </p:txBody>
      </p:sp>
      <p:sp>
        <p:nvSpPr>
          <p:cNvPr id="193" name="Google Shape;193;p29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b="1" lang="en"/>
              <a:t>Release [1]</a:t>
            </a:r>
            <a:endParaRPr b="1"/>
          </a:p>
        </p:txBody>
      </p:sp>
      <p:pic>
        <p:nvPicPr>
          <p:cNvPr id="194" name="Google Shape;194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5" y="1280160"/>
            <a:ext cx="3657600" cy="3080512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9"/>
          <p:cNvSpPr txBox="1"/>
          <p:nvPr/>
        </p:nvSpPr>
        <p:spPr>
          <a:xfrm>
            <a:off x="0" y="423355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[1] Do not rename release candidates</a:t>
            </a:r>
            <a:endParaRPr/>
          </a:p>
        </p:txBody>
      </p:sp>
      <p:sp>
        <p:nvSpPr>
          <p:cNvPr id="196" name="Google Shape;196;p29"/>
          <p:cNvSpPr/>
          <p:nvPr/>
        </p:nvSpPr>
        <p:spPr>
          <a:xfrm>
            <a:off x="4754880" y="1783080"/>
            <a:ext cx="850500" cy="2742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29"/>
          <p:cNvSpPr/>
          <p:nvPr/>
        </p:nvSpPr>
        <p:spPr>
          <a:xfrm>
            <a:off x="182880" y="1783080"/>
            <a:ext cx="1097400" cy="2742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2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5"/>
              </a:rPr>
              <a:t>https://oss.cs.fau.de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2a. Sprint Review</a:t>
            </a:r>
            <a:endParaRPr/>
          </a:p>
        </p:txBody>
      </p:sp>
      <p:sp>
        <p:nvSpPr>
          <p:cNvPr id="204" name="Google Shape;204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Checks-out fresh code base using release candidate tag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Compiles, builds, and runs tests for release candidate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Deploys release candidate to test environment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release manager does not run the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3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06" name="Google Shape;206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Backlog Items Move During Sprint Review</a:t>
            </a:r>
            <a:endParaRPr/>
          </a:p>
        </p:txBody>
      </p:sp>
      <p:sp>
        <p:nvSpPr>
          <p:cNvPr id="212" name="Google Shape;212;p3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213" name="Google Shape;213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2b. Sprint Review</a:t>
            </a:r>
            <a:endParaRPr/>
          </a:p>
        </p:txBody>
      </p:sp>
      <p:sp>
        <p:nvSpPr>
          <p:cNvPr id="219" name="Google Shape;219;p3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20" name="Google Shape;220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 [1]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Walks through “Awaiting review” column item by item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Asks developer to demo item under review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Insists that developer shows, not just tells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fulfillment of acceptance criteria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fulfillment of definition of done, if required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other criteria incl. logging output for problems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successfully implemented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Moves item to feature archive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Asks developers about real size, add it to the item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not successfully implemented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Moves item back to product backlog</a:t>
            </a:r>
            <a:endParaRPr/>
          </a:p>
        </p:txBody>
      </p:sp>
      <p:sp>
        <p:nvSpPr>
          <p:cNvPr id="221" name="Google Shape;221;p32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Product owner #2 was responsible for the last sprint planning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2c. Sprint Review</a:t>
            </a:r>
            <a:endParaRPr/>
          </a:p>
        </p:txBody>
      </p:sp>
      <p:sp>
        <p:nvSpPr>
          <p:cNvPr id="227" name="Google Shape;227;p3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28" name="Google Shape;228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Software developer (individually)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 called upon by product owner for backlog item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Demos backlog item as requested by product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Answers questions about item design and implementation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Provides real size as determined after implementation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Only talking, not showing, is not acceptable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product manager needs to insist on showing not just talking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a developer only talks, product owner and developer failed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3a. Sprint Release</a:t>
            </a:r>
            <a:endParaRPr/>
          </a:p>
        </p:txBody>
      </p:sp>
      <p:sp>
        <p:nvSpPr>
          <p:cNvPr id="234" name="Google Shape;234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Decides whether release candidate should be released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Only in case of significant regression should you not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Later in the course you will use a definition of done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Specifics depend on type of release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Consults with software developers if necessary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3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36" name="Google Shape;236;p3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3b. Sprint Release</a:t>
            </a:r>
            <a:endParaRPr/>
          </a:p>
        </p:txBody>
      </p:sp>
      <p:sp>
        <p:nvSpPr>
          <p:cNvPr id="242" name="Google Shape;242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Release manager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 release candidate is to be released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Tags release with </a:t>
            </a:r>
            <a:r>
              <a:rPr b="1" lang="en"/>
              <a:t>sprint-xx-release</a:t>
            </a:r>
            <a:r>
              <a:rPr lang="en"/>
              <a:t> where xx is your sprint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Deploys sprint release to production environment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there is a change log (optional)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Updates change log with release information</a:t>
            </a:r>
            <a:endParaRPr/>
          </a:p>
        </p:txBody>
      </p:sp>
      <p:sp>
        <p:nvSpPr>
          <p:cNvPr id="243" name="Google Shape;243;p3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4a. Sprint Retrospective</a:t>
            </a:r>
            <a:endParaRPr/>
          </a:p>
        </p:txBody>
      </p:sp>
      <p:sp>
        <p:nvSpPr>
          <p:cNvPr id="249" name="Google Shape;249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Reviews this sprint’s impediments and improvements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Reports on progress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Reviews remaining problems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Performs roll call, asks everyone individually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has gone well?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hasn’t gone well?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can we do better?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Puts new impediments and improvements into imp-squared backlog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3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51" name="Google Shape;251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4b. Sprint Retrospective</a:t>
            </a:r>
            <a:endParaRPr/>
          </a:p>
        </p:txBody>
      </p:sp>
      <p:sp>
        <p:nvSpPr>
          <p:cNvPr id="257" name="Google Shape;257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Everyone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Answers to happiness index</a:t>
            </a:r>
            <a:endParaRPr/>
          </a:p>
        </p:txBody>
      </p:sp>
      <p:sp>
        <p:nvSpPr>
          <p:cNvPr id="258" name="Google Shape;258;p3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5a. Sprint Planning</a:t>
            </a:r>
            <a:endParaRPr/>
          </a:p>
        </p:txBody>
      </p:sp>
      <p:sp>
        <p:nvSpPr>
          <p:cNvPr id="264" name="Google Shape;264;p3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65" name="Google Shape;265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Product owner #1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Reprioritizes product backlog items, if necessary, on-the-fly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through top-prioritized backlog items one-by-one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For each product backlog item, 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explains it,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"/>
              <a:t>asks developers to estimate and commit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are finished, if the team does not want to take on more backlog items</a:t>
            </a:r>
            <a:endParaRPr/>
          </a:p>
        </p:txBody>
      </p:sp>
      <p:pic>
        <p:nvPicPr>
          <p:cNvPr id="266" name="Google Shape;266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5b. Sprint Planning</a:t>
            </a:r>
            <a:endParaRPr/>
          </a:p>
        </p:txBody>
      </p:sp>
      <p:sp>
        <p:nvSpPr>
          <p:cNvPr id="272" name="Google Shape;272;p3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273" name="Google Shape;273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/>
              <a:t>Software developers (as team)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Estimate size of each backlog item using planning poker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planning, commit to backlog items in sprint backlog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Story Points</a:t>
            </a:r>
            <a:endParaRPr/>
          </a:p>
        </p:txBody>
      </p:sp>
      <p:sp>
        <p:nvSpPr>
          <p:cNvPr id="279" name="Google Shape;279;p40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en"/>
              <a:t>Story points</a:t>
            </a:r>
            <a:endParaRPr b="1"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an arbitrary numeric measure of size of a given backlog item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b="1" lang="en"/>
              <a:t>Properties</a:t>
            </a:r>
            <a:endParaRPr b="1"/>
          </a:p>
          <a:p>
            <a:pPr indent="-325755" lvl="0" marL="457200" rtl="0" algn="l"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a measure of size, not of effort or duration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Measured in non-linear increments, forcing choice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socially agreed upon, depends on team estimation history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independent of a particular person (and their skills)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Is mapped to time using the team's velocity (development speed)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40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endParaRPr/>
          </a:p>
        </p:txBody>
      </p:sp>
      <p:graphicFrame>
        <p:nvGraphicFramePr>
          <p:cNvPr id="281" name="Google Shape;281;p40"/>
          <p:cNvGraphicFramePr/>
          <p:nvPr/>
        </p:nvGraphicFramePr>
        <p:xfrm>
          <a:off x="466344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{28F49017-D488-4D14-BD19-3D1265C67C6A}</a:tableStyleId>
              </a:tblPr>
              <a:tblGrid>
                <a:gridCol w="2103125"/>
                <a:gridCol w="21031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Points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Meaning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0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No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Trivial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2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Small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3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Medium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5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Large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8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Very large size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/>
                        <a:t>13</a:t>
                      </a:r>
                      <a:endParaRPr b="1"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Too large (size)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Sprint Planning with Planning Poker [1]</a:t>
            </a:r>
            <a:endParaRPr/>
          </a:p>
        </p:txBody>
      </p:sp>
      <p:sp>
        <p:nvSpPr>
          <p:cNvPr id="287" name="Google Shape;287;p4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sp>
        <p:nvSpPr>
          <p:cNvPr id="288" name="Google Shape;288;p41"/>
          <p:cNvSpPr txBox="1"/>
          <p:nvPr/>
        </p:nvSpPr>
        <p:spPr>
          <a:xfrm>
            <a:off x="0" y="423355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Please find a simple planning poker tool in your planning documents</a:t>
            </a:r>
            <a:endParaRPr/>
          </a:p>
        </p:txBody>
      </p:sp>
      <p:pic>
        <p:nvPicPr>
          <p:cNvPr id="289" name="Google Shape;289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6a. Meeting After-work</a:t>
            </a:r>
            <a:endParaRPr/>
          </a:p>
        </p:txBody>
      </p:sp>
      <p:sp>
        <p:nvSpPr>
          <p:cNvPr id="295" name="Google Shape;295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Product owner #2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Updates planning document to consistent state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Cleans up product and sprint backlog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Ensures feature archive is current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4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pic>
        <p:nvPicPr>
          <p:cNvPr id="297" name="Google Shape;297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0838" y="914388"/>
            <a:ext cx="1828800" cy="1828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6b. Meeting After-work</a:t>
            </a:r>
            <a:endParaRPr/>
          </a:p>
        </p:txBody>
      </p:sp>
      <p:sp>
        <p:nvSpPr>
          <p:cNvPr id="303" name="Google Shape;303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Software developer (as team)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Plan programming tasks (1 feature = 1+ tasks)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Agree on which developer(s) work(s) on which tasks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pair programming, ensure you document the pair</a:t>
            </a:r>
            <a:endParaRPr/>
          </a:p>
        </p:txBody>
      </p:sp>
      <p:sp>
        <p:nvSpPr>
          <p:cNvPr id="304" name="Google Shape;304;p4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6c. Meeting After-work</a:t>
            </a:r>
            <a:endParaRPr/>
          </a:p>
        </p:txBody>
      </p:sp>
      <p:sp>
        <p:nvSpPr>
          <p:cNvPr id="310" name="Google Shape;310;p4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Scrum Master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Works on impediments and improvements during sprint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Documents resolutions in imp-squared backlog</a:t>
            </a:r>
            <a:endParaRPr/>
          </a:p>
        </p:txBody>
      </p:sp>
      <p:sp>
        <p:nvSpPr>
          <p:cNvPr id="311" name="Google Shape;311;p4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Efficient Team Meeting Takes 90 Min. (or Less)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graphicFrame>
        <p:nvGraphicFramePr>
          <p:cNvPr id="318" name="Google Shape;318;p45"/>
          <p:cNvGraphicFramePr/>
          <p:nvPr/>
        </p:nvGraphicFramePr>
        <p:xfrm>
          <a:off x="274320" y="8686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{28F49017-D488-4D14-BD19-3D1265C67C6A}</a:tableStyleId>
              </a:tblPr>
              <a:tblGrid>
                <a:gridCol w="638675"/>
                <a:gridCol w="2290400"/>
                <a:gridCol w="5666300"/>
              </a:tblGrid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#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Section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rgbClr val="FFFFFF"/>
                          </a:solidFill>
                        </a:rPr>
                        <a:t>Duration</a:t>
                      </a:r>
                      <a:endParaRPr b="1">
                        <a:solidFill>
                          <a:srgbClr val="FFFFFF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1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Meeting preparation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-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2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review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~35%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3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release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~5%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4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retrospective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~20%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5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Sprint planning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~40%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6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Meeting after-work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-</a:t>
                      </a:r>
                      <a:endParaRPr sz="1200"/>
                    </a:p>
                  </a:txBody>
                  <a:tcPr marT="91425" marB="91425" marR="91425" marL="91425" anchor="ctr">
                    <a:lnL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rgbClr val="FFFFF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r>
              <a:rPr lang="en"/>
              <a:t>. Software Bill of Materials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Bill of Materials [1]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bill of materials</a:t>
            </a:r>
            <a:r>
              <a:rPr lang="en"/>
              <a:t> (of some artifact)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linear list of materials (the parts) constituting the artifact (the whole)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bill of materials can contain any kind of material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just software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If purely software, the bill of materials is also called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Software bill of materials (SBOM)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47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331" name="Google Shape;331;p47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German: Stückliste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Bill of Materials (SBOM)</a:t>
            </a:r>
            <a:endParaRPr/>
          </a:p>
        </p:txBody>
      </p:sp>
      <p:sp>
        <p:nvSpPr>
          <p:cNvPr id="337" name="Google Shape;337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For each dependency, provide this (recommended, not required) information</a:t>
            </a:r>
            <a:endParaRPr/>
          </a:p>
        </p:txBody>
      </p:sp>
      <p:sp>
        <p:nvSpPr>
          <p:cNvPr id="338" name="Google Shape;338;p4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graphicFrame>
        <p:nvGraphicFramePr>
          <p:cNvPr id="339" name="Google Shape;339;p48"/>
          <p:cNvGraphicFramePr/>
          <p:nvPr/>
        </p:nvGraphicFramePr>
        <p:xfrm>
          <a:off x="274320" y="1371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{28F49017-D488-4D14-BD19-3D1265C67C6A}</a:tableStyleId>
              </a:tblPr>
              <a:tblGrid>
                <a:gridCol w="1280725"/>
                <a:gridCol w="3657325"/>
                <a:gridCol w="36573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Field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Name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Example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Context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com.google.code.gson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Name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gson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3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Version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2.3.1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4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License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Apache-2.0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5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Comment (optional)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Pulled from Maven Central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Deliverable: Software Bill of Materials</a:t>
            </a:r>
            <a:endParaRPr/>
          </a:p>
        </p:txBody>
      </p:sp>
      <p:sp>
        <p:nvSpPr>
          <p:cNvPr id="345" name="Google Shape;345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Please initialize your software bill of materials and keep it up-to-date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can limit this to your first-level dependencies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can use a tool, e.g. a build tool plugin to generate the SBOM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Please update every time you change your dependencies </a:t>
            </a:r>
            <a:endParaRPr/>
          </a:p>
        </p:txBody>
      </p:sp>
      <p:sp>
        <p:nvSpPr>
          <p:cNvPr id="346" name="Google Shape;346;p49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5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Software Architecture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Agile Architecture?!</a:t>
            </a:r>
            <a:endParaRPr/>
          </a:p>
        </p:txBody>
      </p:sp>
      <p:sp>
        <p:nvSpPr>
          <p:cNvPr id="357" name="Google Shape;357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Agile methods eschew detailed planning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proof of the software is in the feedback of the customer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Software architecture is the overall design of a system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Including static (structural) and dynamic aspects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Covering everything of wide impact to the system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Ignoring everything with limited (localized) impact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Agile software architecture is software architecture that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Emerges from risk-adjusted planning / visibility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Delays architectural investment to the last minute</a:t>
            </a:r>
            <a:endParaRPr/>
          </a:p>
        </p:txBody>
      </p:sp>
      <p:sp>
        <p:nvSpPr>
          <p:cNvPr id="358" name="Google Shape;358;p51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Runtime Architecture</a:t>
            </a:r>
            <a:endParaRPr/>
          </a:p>
        </p:txBody>
      </p:sp>
      <p:sp>
        <p:nvSpPr>
          <p:cNvPr id="364" name="Google Shape;364;p52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65" name="Google Shape;365;p5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Objects at Runtime</a:t>
            </a:r>
            <a:endParaRPr/>
          </a:p>
        </p:txBody>
      </p:sp>
      <p:sp>
        <p:nvSpPr>
          <p:cNvPr id="371" name="Google Shape;371;p53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72" name="Google Shape;372;p5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Code Organization</a:t>
            </a:r>
            <a:endParaRPr/>
          </a:p>
        </p:txBody>
      </p:sp>
      <p:sp>
        <p:nvSpPr>
          <p:cNvPr id="378" name="Google Shape;378;p54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/>
          </a:p>
        </p:txBody>
      </p:sp>
      <p:pic>
        <p:nvPicPr>
          <p:cNvPr id="379" name="Google Shape;379;p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731520"/>
            <a:ext cx="9144001" cy="39319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One-time Deliverable: Architecture Description</a:t>
            </a:r>
            <a:endParaRPr/>
          </a:p>
        </p:txBody>
      </p:sp>
      <p:sp>
        <p:nvSpPr>
          <p:cNvPr id="385" name="Google Shape;385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Provide a description of the initial planned architecture including (at a minimum)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runtime architecture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(static) code organization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tech stack you are building 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Feel free at the end of the project to review planning with reality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55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AMOS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team meeting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Meeting preparation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release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retrospective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Sprint planning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bill of materials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Software architecture</a:t>
            </a:r>
            <a:endParaRPr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399" name="Google Shape;399;p57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05" name="Google Shape;405;p58"/>
          <p:cNvSpPr txBox="1"/>
          <p:nvPr>
            <p:ph idx="12" type="sldNum"/>
          </p:nvPr>
        </p:nvSpPr>
        <p:spPr>
          <a:xfrm>
            <a:off x="7315202" y="4416550"/>
            <a:ext cx="1828800" cy="73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solidFill>
                  <a:schemeClr val="dk1"/>
                </a:solidFill>
              </a:rPr>
              <a:t>‹#›</a:t>
            </a:fld>
            <a:endParaRPr>
              <a:solidFill>
                <a:schemeClr val="dk1"/>
              </a:solidFill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900" u="sng">
                <a:solidFill>
                  <a:schemeClr val="hlink"/>
                </a:solidFill>
                <a:hlinkClick r:id="rId3"/>
              </a:rPr>
              <a:t>https://oss.cs.fau.de</a:t>
            </a:r>
            <a:r>
              <a:rPr b="0" lang="en" sz="900"/>
              <a:t> </a:t>
            </a:r>
            <a:endParaRPr b="0" sz="900"/>
          </a:p>
        </p:txBody>
      </p:sp>
      <p:sp>
        <p:nvSpPr>
          <p:cNvPr id="406" name="Google Shape;406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Copyright 2009-2026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MO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POSS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4CAF50"/>
      </a:accent3>
      <a:accent4>
        <a:srgbClr val="FEB612"/>
      </a:accent4>
      <a:accent5>
        <a:srgbClr val="F36838"/>
      </a:accent5>
      <a:accent6>
        <a:srgbClr val="8E44AD"/>
      </a:accent6>
      <a:hlink>
        <a:srgbClr val="1E90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