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7111F9-E64D-40C2-AF79-A55EB1FDECA5}">
  <a:tblStyle styleId="{557111F9-E64D-40C2-AF79-A55EB1FDEC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fcfcbb8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fcfcbb8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f17014c6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f17014c6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e56beb4b3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e56beb4b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52a3f74d0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52a3f74d0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2c6355d61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2c6355d61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2c6355d619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2c6355d61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2c6355d619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2c6355d619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2c6355d619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2c6355d61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2c6355d61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2c6355d61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2c6355d619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2c6355d619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2c6355d61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2c6355d61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cf0d554a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cf0d554a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2c6355d619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2c6355d619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67a91423c4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67a91423c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2c6355d619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22c6355d619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2c6355d619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2c6355d619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cf0d554a2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cf0d554a2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2c6355d619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2c6355d619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c6355d619_0_2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2c6355d619_0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2c6355d619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2c6355d619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2c6355d619_0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22c6355d619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2c6355d619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2c6355d619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2c6355d619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22c6355d619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2c6355d619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2c6355d619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c6355d619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2c6355d619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2c6355d619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2c6355d619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2c6355d619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22c6355d619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2c6355d619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2c6355d619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2c6355d619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2c6355d619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2c6355d619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22c6355d619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22c6355d619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22c6355d619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2c6355d619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2c6355d61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2c6355d619_0_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22c6355d619_0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152a3f74d0d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152a3f74d0d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22c6355d619_0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22c6355d619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152a3f74d0d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152a3f74d0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22c6355d61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22c6355d61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1390bb5a5a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1390bb5a5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1390bb5a5a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1390bb5a5a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1390bb5a5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1390bb5a5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152a3f74d0d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152a3f74d0d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2d186861d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2d186861d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397cb0cd5f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397cb0cd5f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2397cb0cd5f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2397cb0cd5f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mailto:stefan.buchner@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amos.uni1.de" TargetMode="External"/><Relationship Id="rId4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7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and AMOS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B02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 on Commits to Repository</a:t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Don’t forget to sign-off and</a:t>
            </a:r>
            <a:r>
              <a:rPr lang="en"/>
              <a:t> </a:t>
            </a:r>
            <a:r>
              <a:rPr lang="en"/>
              <a:t>declare your co-authors, if any [1]</a:t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02" name="Google Shape;102;p16"/>
          <p:cNvSpPr txBox="1"/>
          <p:nvPr/>
        </p:nvSpPr>
        <p:spPr>
          <a:xfrm>
            <a:off x="274320" y="1371600"/>
            <a:ext cx="8595300" cy="13716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dirk@host$ git commit -a -m "Fixed problem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Co-authored-by: Stefan Buchner &lt;</a:t>
            </a:r>
            <a:r>
              <a:rPr lang="en" sz="15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stefan.buchner@fau.de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&gt;”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--signoff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For more details, please see the slide deck </a:t>
            </a:r>
            <a:r>
              <a:rPr b="1" lang="en"/>
              <a:t>AMOS B01 </a:t>
            </a:r>
            <a:r>
              <a:rPr lang="en"/>
              <a:t>on</a:t>
            </a:r>
            <a:r>
              <a:rPr b="1" lang="en"/>
              <a:t> Team and Tools</a:t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AMOS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team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Meeting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retrospective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planning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bill of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architecture</a:t>
            </a:r>
            <a:endParaRPr/>
          </a:p>
        </p:txBody>
      </p:sp>
      <p:sp>
        <p:nvSpPr>
          <p:cNvPr id="110" name="Google Shape;110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 AMOS Process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in Student Projects</a:t>
            </a:r>
            <a:endParaRPr/>
          </a:p>
        </p:txBody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Widely differing abilities and experiences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100% on project, but in multiple courses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Transient rather than persistent teams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available at same place, not at same time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extrinsically motivated (grades)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Solutions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Context-aware instantiation of framework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Supporting teaching team, coaching</a:t>
            </a:r>
            <a:endParaRPr/>
          </a:p>
        </p:txBody>
      </p:sp>
      <p:sp>
        <p:nvSpPr>
          <p:cNvPr id="122" name="Google Shape;122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Overall AMOS Project Timeline</a:t>
            </a:r>
            <a:endParaRPr/>
          </a:p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29" name="Google Shape;12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Time-boxed Sequence of Releases</a:t>
            </a:r>
            <a:endParaRPr/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release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named identifiable, consistent, and useful snapshot of the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sprint release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release used to gather feedback from the industry partner to steer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project release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release that is deployed to production where it is supposed to perform its job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the AMOS Project there are two releases (mid-project and final release)</a:t>
            </a:r>
            <a:endParaRPr/>
          </a:p>
        </p:txBody>
      </p:sp>
      <p:sp>
        <p:nvSpPr>
          <p:cNvPr id="136" name="Google Shape;136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Schedule</a:t>
            </a:r>
            <a:endParaRPr/>
          </a:p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see the Schedule tab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https://amos.uni1.de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The Team Meeting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Structure of a Scrum Sprint</a:t>
            </a:r>
            <a:endParaRPr/>
          </a:p>
        </p:txBody>
      </p:sp>
      <p:sp>
        <p:nvSpPr>
          <p:cNvPr id="154" name="Google Shape;154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55" name="Google Shape;15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Team Meeting</a:t>
            </a:r>
            <a:endParaRPr/>
          </a:p>
        </p:txBody>
      </p:sp>
      <p:sp>
        <p:nvSpPr>
          <p:cNvPr id="161" name="Google Shape;161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62" name="Google Shape;16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Feature Board (Recap)</a:t>
            </a:r>
            <a:endParaRPr/>
          </a:p>
        </p:txBody>
      </p:sp>
      <p:sp>
        <p:nvSpPr>
          <p:cNvPr id="168" name="Google Shape;168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1a. Meeting Preparation</a:t>
            </a:r>
            <a:endParaRPr/>
          </a:p>
        </p:txBody>
      </p:sp>
      <p:sp>
        <p:nvSpPr>
          <p:cNvPr id="175" name="Google Shape;175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#1 [1]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Refines backlog [2] </a:t>
            </a:r>
            <a:r>
              <a:rPr lang="en"/>
              <a:t>in a </a:t>
            </a:r>
            <a:r>
              <a:rPr b="1" lang="en"/>
              <a:t>next sprint preparation</a:t>
            </a:r>
            <a:r>
              <a:rPr lang="en"/>
              <a:t>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Should include at least one developer (may want to plan this out)</a:t>
            </a:r>
            <a:endParaRPr sz="14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Ensures that the product backlog is ready for sprint planning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There are enough high-quality entries at least for the upcoming sprint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High-quality = meets INVEST criteria, explained later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Product backlog entries may be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New features, bug fixes, and refactorings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77" name="Google Shape;177;p2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Product owner #1 will run the sprint planning in the upcoming team meeting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Backlog refinement is also known as backlog grooming</a:t>
            </a:r>
            <a:endParaRPr/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1b. Meeting Preparation</a:t>
            </a:r>
            <a:endParaRPr/>
          </a:p>
        </p:txBody>
      </p:sp>
      <p:sp>
        <p:nvSpPr>
          <p:cNvPr id="184" name="Google Shape;184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Ensures that a working demo system will be available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Tags release candidate with </a:t>
            </a:r>
            <a:r>
              <a:rPr b="1" lang="en"/>
              <a:t>sprint-xx-release-candidate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xx is your sprint number (see deliverables through project schedule)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325" y="1280160"/>
            <a:ext cx="3657601" cy="308051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Tagging Release Candidates and Releases</a:t>
            </a:r>
            <a:endParaRPr/>
          </a:p>
        </p:txBody>
      </p:sp>
      <p:sp>
        <p:nvSpPr>
          <p:cNvPr id="192" name="Google Shape;192;p2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Release candidate</a:t>
            </a:r>
            <a:endParaRPr b="1"/>
          </a:p>
        </p:txBody>
      </p:sp>
      <p:sp>
        <p:nvSpPr>
          <p:cNvPr id="193" name="Google Shape;193;p2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Release [1]</a:t>
            </a:r>
            <a:endParaRPr b="1"/>
          </a:p>
        </p:txBody>
      </p:sp>
      <p:pic>
        <p:nvPicPr>
          <p:cNvPr id="194" name="Google Shape;19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1280160"/>
            <a:ext cx="3657600" cy="3080512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/>
          <p:nvPr/>
        </p:nvSpPr>
        <p:spPr>
          <a:xfrm>
            <a:off x="0" y="423355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[1] Do not rename release candidates</a:t>
            </a:r>
            <a:endParaRPr/>
          </a:p>
        </p:txBody>
      </p:sp>
      <p:sp>
        <p:nvSpPr>
          <p:cNvPr id="196" name="Google Shape;196;p29"/>
          <p:cNvSpPr/>
          <p:nvPr/>
        </p:nvSpPr>
        <p:spPr>
          <a:xfrm>
            <a:off x="4754880" y="1783080"/>
            <a:ext cx="850500" cy="2742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29"/>
          <p:cNvSpPr/>
          <p:nvPr/>
        </p:nvSpPr>
        <p:spPr>
          <a:xfrm>
            <a:off x="182880" y="1783080"/>
            <a:ext cx="1097400" cy="2742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2a. Sprint Review</a:t>
            </a:r>
            <a:endParaRPr/>
          </a:p>
        </p:txBody>
      </p:sp>
      <p:sp>
        <p:nvSpPr>
          <p:cNvPr id="204" name="Google Shape;204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Checks-out fresh code base using release candidate tag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Compiles, builds, and runs tests for release candidate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Deploys release candidate to test environment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release manager does not run the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06" name="Google Shape;20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Backlog Items Move During Sprint Review</a:t>
            </a:r>
            <a:endParaRPr/>
          </a:p>
        </p:txBody>
      </p:sp>
      <p:sp>
        <p:nvSpPr>
          <p:cNvPr id="212" name="Google Shape;212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13" name="Google Shape;21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2b. Sprint Review</a:t>
            </a:r>
            <a:endParaRPr/>
          </a:p>
        </p:txBody>
      </p:sp>
      <p:sp>
        <p:nvSpPr>
          <p:cNvPr id="219" name="Google Shape;219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20" name="Google Shape;220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 [1]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Walks through “Awaiting review” column item by item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Asks developer to demo item under review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Insists that developer shows, not just tells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fulfillment of acceptance criteria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fulfillment of definition of done, if required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other criteria incl. logging output for problems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successfully implemented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Moves item to feature archive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Asks developers about real size, add it to the item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not successfully implemented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Moves item back to product backlog</a:t>
            </a:r>
            <a:endParaRPr/>
          </a:p>
        </p:txBody>
      </p:sp>
      <p:sp>
        <p:nvSpPr>
          <p:cNvPr id="221" name="Google Shape;221;p3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Product owner #2 was responsible for the last sprint planning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2c. Sprint Review</a:t>
            </a:r>
            <a:endParaRPr/>
          </a:p>
        </p:txBody>
      </p:sp>
      <p:sp>
        <p:nvSpPr>
          <p:cNvPr id="227" name="Google Shape;227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28" name="Google Shape;228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Software developer (individually)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called upon by product owner for backlog item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Demos backlog item as requested by product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Answers questions about item design and implementation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Provides real size as determined after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Only talking, not showing, is not acceptable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product owner needs to insist on showing not just talking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developer only talks, product owner and developer failed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3a. Sprint Release</a:t>
            </a:r>
            <a:endParaRPr/>
          </a:p>
        </p:txBody>
      </p:sp>
      <p:sp>
        <p:nvSpPr>
          <p:cNvPr id="234" name="Google Shape;234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Decides whether release candidate should be released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in case of significant regression should you not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Later in the course you will use a definition of done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Specifics depend on type of release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Consults with software developers if necessary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36" name="Google Shape;236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3b. Sprint Release</a:t>
            </a:r>
            <a:endParaRPr/>
          </a:p>
        </p:txBody>
      </p:sp>
      <p:sp>
        <p:nvSpPr>
          <p:cNvPr id="242" name="Google Shape;242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release candidate is to be released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Tags release with </a:t>
            </a:r>
            <a:r>
              <a:rPr b="1" lang="en"/>
              <a:t>sprint-xx-release</a:t>
            </a:r>
            <a:r>
              <a:rPr lang="en"/>
              <a:t> where xx is your sprint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Deploys sprint release to production environment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there is a change log (optional)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Updates change log with release information</a:t>
            </a:r>
            <a:endParaRPr/>
          </a:p>
        </p:txBody>
      </p:sp>
      <p:sp>
        <p:nvSpPr>
          <p:cNvPr id="243" name="Google Shape;243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4a. Sprint Retrospective</a:t>
            </a:r>
            <a:endParaRPr/>
          </a:p>
        </p:txBody>
      </p:sp>
      <p:sp>
        <p:nvSpPr>
          <p:cNvPr id="249" name="Google Shape;249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Reviews this sprint’s impediments and improvements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Reports on progress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Reviews remaining problems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Performs roll call, asks everyone individually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has gone well?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hasn’t gone well?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can we do better?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Puts new impediments and improvements into imp-squared backlog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51" name="Google Shape;251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4b. Sprint Retrospective</a:t>
            </a:r>
            <a:endParaRPr/>
          </a:p>
        </p:txBody>
      </p:sp>
      <p:sp>
        <p:nvSpPr>
          <p:cNvPr id="257" name="Google Shape;257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Everyone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Answers to happiness index</a:t>
            </a:r>
            <a:endParaRPr/>
          </a:p>
        </p:txBody>
      </p:sp>
      <p:sp>
        <p:nvSpPr>
          <p:cNvPr id="258" name="Google Shape;258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5a. Sprint Planning</a:t>
            </a:r>
            <a:endParaRPr/>
          </a:p>
        </p:txBody>
      </p:sp>
      <p:sp>
        <p:nvSpPr>
          <p:cNvPr id="264" name="Google Shape;264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65" name="Google Shape;26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Product owner #1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Reprioritizes product backlog items, if necessary, on-the-fly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through top-prioritized backlog items one-by-one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each product backlog item,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explains it,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asks developers to estimate and commit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are finished, if the team does not want to take on more backlog items</a:t>
            </a:r>
            <a:endParaRPr/>
          </a:p>
        </p:txBody>
      </p:sp>
      <p:pic>
        <p:nvPicPr>
          <p:cNvPr id="266" name="Google Shape;266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5b. Sprint Planning</a:t>
            </a:r>
            <a:endParaRPr/>
          </a:p>
        </p:txBody>
      </p:sp>
      <p:sp>
        <p:nvSpPr>
          <p:cNvPr id="272" name="Google Shape;272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73" name="Google Shape;273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Software developers (as team)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Estimate size of each backlog item using planning poker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planning, commit to backlog items in sprint backlog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Story Points</a:t>
            </a:r>
            <a:endParaRPr/>
          </a:p>
        </p:txBody>
      </p:sp>
      <p:sp>
        <p:nvSpPr>
          <p:cNvPr id="279" name="Google Shape;279;p40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en"/>
              <a:t>Story points</a:t>
            </a:r>
            <a:endParaRPr b="1"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an arbitrary numeric measure of size of a given backlog item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en"/>
              <a:t>Properties</a:t>
            </a:r>
            <a:endParaRPr b="1"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a measure of size, not of effort or duration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Measured in non-linear increments, forcing choice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socially agreed upon, depends on team estimation history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independent of a particular person (and their skills)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mapped to time using the team's velocity (development speed)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/>
          </a:p>
        </p:txBody>
      </p:sp>
      <p:graphicFrame>
        <p:nvGraphicFramePr>
          <p:cNvPr id="281" name="Google Shape;281;p40"/>
          <p:cNvGraphicFramePr/>
          <p:nvPr/>
        </p:nvGraphicFramePr>
        <p:xfrm>
          <a:off x="466344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{557111F9-E64D-40C2-AF79-A55EB1FDECA5}</a:tableStyleId>
              </a:tblPr>
              <a:tblGrid>
                <a:gridCol w="2103125"/>
                <a:gridCol w="21031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Points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Meaning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0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Trivial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2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Medium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Large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8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Very large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13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Too large (size)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Planning with Planning Poker [1]</a:t>
            </a:r>
            <a:endParaRPr/>
          </a:p>
        </p:txBody>
      </p:sp>
      <p:sp>
        <p:nvSpPr>
          <p:cNvPr id="287" name="Google Shape;287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288" name="Google Shape;288;p41"/>
          <p:cNvSpPr txBox="1"/>
          <p:nvPr/>
        </p:nvSpPr>
        <p:spPr>
          <a:xfrm>
            <a:off x="0" y="423355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Please find a simple planning poker tool in your planning documents</a:t>
            </a:r>
            <a:endParaRPr/>
          </a:p>
        </p:txBody>
      </p:sp>
      <p:pic>
        <p:nvPicPr>
          <p:cNvPr id="289" name="Google Shape;28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6a. Meeting After-work</a:t>
            </a:r>
            <a:endParaRPr/>
          </a:p>
        </p:txBody>
      </p:sp>
      <p:sp>
        <p:nvSpPr>
          <p:cNvPr id="295" name="Google Shape;295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Updates planning document to consistent 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Cleans up product and sprint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Ensures feature archive is current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97" name="Google Shape;297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6b. Meeting After-work</a:t>
            </a:r>
            <a:endParaRPr/>
          </a:p>
        </p:txBody>
      </p:sp>
      <p:sp>
        <p:nvSpPr>
          <p:cNvPr id="303" name="Google Shape;303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Software developer (as team)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Plan programming tasks (1 feature = 1+ tasks)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Agree on which developer(s) work(s) on which tasks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pair programming, ensure you document the pair</a:t>
            </a:r>
            <a:endParaRPr/>
          </a:p>
        </p:txBody>
      </p:sp>
      <p:sp>
        <p:nvSpPr>
          <p:cNvPr id="304" name="Google Shape;304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6c. Meeting After-work</a:t>
            </a:r>
            <a:endParaRPr/>
          </a:p>
        </p:txBody>
      </p:sp>
      <p:sp>
        <p:nvSpPr>
          <p:cNvPr id="310" name="Google Shape;310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on impediments and improvements during sprint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Documents resolutions in imp-squared backlog</a:t>
            </a:r>
            <a:endParaRPr/>
          </a:p>
        </p:txBody>
      </p:sp>
      <p:sp>
        <p:nvSpPr>
          <p:cNvPr id="311" name="Google Shape;311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Efficient Team Meeting Takes 90 Min. (or Less)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318" name="Google Shape;318;p45"/>
          <p:cNvGraphicFramePr/>
          <p:nvPr/>
        </p:nvGraphicFramePr>
        <p:xfrm>
          <a:off x="274320" y="8686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{557111F9-E64D-40C2-AF79-A55EB1FDECA5}</a:tableStyleId>
              </a:tblPr>
              <a:tblGrid>
                <a:gridCol w="638675"/>
                <a:gridCol w="2290400"/>
                <a:gridCol w="566630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#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Section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Meeting preparation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-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review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~35%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release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~5%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retrospective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~20%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planning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~40%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6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Meeting after-work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-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r>
              <a:rPr lang="en"/>
              <a:t>. Software Bill of Materials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Bill of Materials [1]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bill of materials</a:t>
            </a:r>
            <a:r>
              <a:rPr lang="en"/>
              <a:t> (of some artifact)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linear list of materials (the parts) constituting the artifact (the whole)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bill of materials can contain any kind of material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just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purely software, the bill of materials is also called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bill of materials (SBOM)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31" name="Google Shape;331;p4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German: Stückliste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Bill of Materials (SBOM)</a:t>
            </a:r>
            <a:endParaRPr/>
          </a:p>
        </p:txBody>
      </p:sp>
      <p:sp>
        <p:nvSpPr>
          <p:cNvPr id="337" name="Google Shape;337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For each dependency, provide this (recommended, not required) information</a:t>
            </a:r>
            <a:endParaRPr/>
          </a:p>
        </p:txBody>
      </p:sp>
      <p:sp>
        <p:nvSpPr>
          <p:cNvPr id="338" name="Google Shape;338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graphicFrame>
        <p:nvGraphicFramePr>
          <p:cNvPr id="339" name="Google Shape;339;p48"/>
          <p:cNvGraphicFramePr/>
          <p:nvPr/>
        </p:nvGraphicFramePr>
        <p:xfrm>
          <a:off x="27432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{557111F9-E64D-40C2-AF79-A55EB1FDECA5}</a:tableStyleId>
              </a:tblPr>
              <a:tblGrid>
                <a:gridCol w="1280725"/>
                <a:gridCol w="3657325"/>
                <a:gridCol w="36573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Field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Name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Example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Context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com.google.code.gson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Name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gson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Version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2.3.1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License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Apache-2.0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Comment (optional)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Pulled from Maven Central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Software Bill of Materials</a:t>
            </a:r>
            <a:endParaRPr/>
          </a:p>
        </p:txBody>
      </p:sp>
      <p:sp>
        <p:nvSpPr>
          <p:cNvPr id="345" name="Google Shape;345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software bill of materials and keep it up-to-date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limit this to your first-level dependencies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can use a tool, e.g. a build tool plugin to generate the SBOM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update every time you change your dependencies </a:t>
            </a:r>
            <a:endParaRPr/>
          </a:p>
        </p:txBody>
      </p:sp>
      <p:sp>
        <p:nvSpPr>
          <p:cNvPr id="346" name="Google Shape;346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Software Architecture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Architecture?!</a:t>
            </a:r>
            <a:endParaRPr/>
          </a:p>
        </p:txBody>
      </p:sp>
      <p:sp>
        <p:nvSpPr>
          <p:cNvPr id="357" name="Google Shape;357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methods eschew detailed planning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proof of the software is in the feedback of the customer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Software architecture is the overall design of a system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Including static (structural) and dynamic aspects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Covering everything of wide impact to the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Ignoring everything with limited (localized) impact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Agile software architecture is software architecture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Emerges from risk-adjusted planning / visibility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Delays architectural investment to the last minute</a:t>
            </a:r>
            <a:endParaRPr/>
          </a:p>
        </p:txBody>
      </p:sp>
      <p:sp>
        <p:nvSpPr>
          <p:cNvPr id="358" name="Google Shape;358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Runtime Architecture</a:t>
            </a:r>
            <a:endParaRPr/>
          </a:p>
        </p:txBody>
      </p:sp>
      <p:sp>
        <p:nvSpPr>
          <p:cNvPr id="364" name="Google Shape;364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65" name="Google Shape;365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at Runtime</a:t>
            </a:r>
            <a:endParaRPr/>
          </a:p>
        </p:txBody>
      </p:sp>
      <p:sp>
        <p:nvSpPr>
          <p:cNvPr id="371" name="Google Shape;371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72" name="Google Shape;372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Organization</a:t>
            </a:r>
            <a:endParaRPr/>
          </a:p>
        </p:txBody>
      </p:sp>
      <p:sp>
        <p:nvSpPr>
          <p:cNvPr id="378" name="Google Shape;378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79" name="Google Shape;379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Architecture Description</a:t>
            </a:r>
            <a:endParaRPr/>
          </a:p>
        </p:txBody>
      </p:sp>
      <p:sp>
        <p:nvSpPr>
          <p:cNvPr id="385" name="Google Shape;385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Provide a description of the initial planned architecture including (at a minimum)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runtime architecture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(static) code organization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tech stack you are building 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Feel free at the end of the project to review planning with reality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AMOS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team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Meeting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retrospective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planning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bill of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architecture</a:t>
            </a:r>
            <a:endParaRPr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99" name="Google Shape;399;p5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05" name="Google Shape;405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06" name="Google Shape;406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