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820128-D6B8-4FC8-A9EA-7671F36084BA}">
  <a:tblStyle styleId="{4A820128-D6B8-4FC8-A9EA-7671F36084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8ef40e9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8ef40e9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17014c6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17014c6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f7716fe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5f7716fe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52a3f74d0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52a3f74d0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e0fdfcf9f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e0fdfcf9f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3de78a01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3de78a01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e0fdfcf9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e0fdfcf9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e0fdfcf9f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e0fdfcf9f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0fdfcf9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e0fdfcf9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0fdfcf9f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e0fdfcf9f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e0fdfcf9f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e0fdfcf9f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e0fdfcf9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e0fdfcf9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e0fdfcf9f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e0fdfcf9f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ddc2a05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3ddc2a05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3ddc2a05b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3ddc2a05b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0fdfcf9f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e0fdfcf9f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0fdfcf9f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e0fdfcf9f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e0fdfcf9f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e0fdfcf9f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e0fdfcf9f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e0fdfcf9f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2cc9e381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2cc9e381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2cc9e381e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2cc9e381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cc9e381e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2cc9e381e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2cc9e381e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2cc9e381e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2cc9e381e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2cc9e381e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2cc9e381e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2cc9e381e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2cc9e381e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2cc9e381e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cc9e381e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2cc9e381e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cc9e381e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2cc9e381e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cc9e381e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2cc9e381e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2cc9e381e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2cc9e381e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2d25c166c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2d25c166c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d25c166c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2d25c166c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2cc9e381e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2cc9e381e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5c21b10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45c21b10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5c21b10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45c21b10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5c21b10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45c21b10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2cc9e381e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2cc9e381e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3f3cfecdc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3f3cfecdc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2cc9e381e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2cc9e381e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2cc9e381e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2cc9e381e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2cc9e381e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2cc9e381e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5b0ed6b9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5b0ed6b9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5b0ed6b97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5b0ed6b97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eb60e1b1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eb60e1b1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2cc9e381e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2cc9e381e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e1c0775d9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e1c0775d9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e1c0775d9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e1c0775d9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3cec2bad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3cec2bad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3cec2bad4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3cec2bad4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55" name="Google Shape;55;p9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10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68" name="Google Shape;68;p11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77" name="Google Shape;77;p12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78" name="Google Shape;78;p12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youtu.be/aXQ2lO3ieBA" TargetMode="External"/><Relationship Id="rId5" Type="http://schemas.openxmlformats.org/officeDocument/2006/relationships/hyperlink" Target="http://www.youtube.com/watch?v=aXQ2lO3ieBA" TargetMode="External"/><Relationship Id="rId6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agilemanifesto.org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ss.cs.fau.d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oss.cs.fau.d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www.youtube.com/watch?v=D7rbiLNf-JI" TargetMode="External"/><Relationship Id="rId5" Type="http://schemas.openxmlformats.org/officeDocument/2006/relationships/image" Target="../media/image15.jpg"/><Relationship Id="rId6" Type="http://schemas.openxmlformats.org/officeDocument/2006/relationships/hyperlink" Target="https://www.youtube.com/watch?v=D7rbiLNf-JI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www.youtube.com/watch?v=_n065KE00J0" TargetMode="External"/><Relationship Id="rId5" Type="http://schemas.openxmlformats.org/officeDocument/2006/relationships/image" Target="../media/image12.jpg"/><Relationship Id="rId6" Type="http://schemas.openxmlformats.org/officeDocument/2006/relationships/hyperlink" Target="https://youtu.be/_n065KE00J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Processes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AMOS B03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 About Common Mistakes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Please sign-off your commits and declare your co-authors, if 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During sprint review, please show and tell, don’t just talk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forget the </a:t>
            </a:r>
            <a:r>
              <a:rPr lang="en"/>
              <a:t>next</a:t>
            </a:r>
            <a:r>
              <a:rPr lang="en"/>
              <a:t> sprint preparation meeting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forget </a:t>
            </a:r>
            <a:r>
              <a:rPr lang="en"/>
              <a:t>your</a:t>
            </a:r>
            <a:r>
              <a:rPr lang="en"/>
              <a:t> team T-shirt preferences</a:t>
            </a:r>
            <a:endParaRPr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Software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Plan-driven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Agile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Scrum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process review</a:t>
            </a:r>
            <a:endParaRPr/>
          </a:p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Software Development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Products vs. Projects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Products have a life-cycle; may live forever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Products are developed for a market (many customers)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Projects have a defined start and end date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Projects are developed for one client (one customer)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Software Project Organization (Consulting Firm)</a:t>
            </a:r>
            <a:endParaRPr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Descriptions in Software Consulting Projects</a:t>
            </a:r>
            <a:endParaRPr/>
          </a:p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project manager is responsible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Planning, managing, and delivering the project results to clients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software developer is </a:t>
            </a:r>
            <a:r>
              <a:rPr lang="en"/>
              <a:t>responsible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Implementing the functionality as requested by the project manager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Software Product Organization (Vendor)</a:t>
            </a:r>
            <a:endParaRPr/>
          </a:p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2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Descriptions in Software Product Development</a:t>
            </a:r>
            <a:endParaRPr/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product manager is responsible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needs doing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engineering manager is responsible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gets to do it and when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software developer is responsible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it gets done and how long it will take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Quality assurance is responsible for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Ensuring that the product meets the expectations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Software Product Life-Cycle</a:t>
            </a:r>
            <a:endParaRPr/>
          </a:p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2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Magic Triangle (“Pick Two”)</a:t>
            </a:r>
            <a:endParaRPr/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Plan-Driven Development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Plan-Driven Development</a:t>
            </a:r>
            <a:endParaRPr/>
          </a:p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From “The Pentagon Wars” [1]</a:t>
            </a:r>
            <a:endParaRPr/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sp>
        <p:nvSpPr>
          <p:cNvPr id="181" name="Google Shape;181;p2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https://youtu.be/aXQ2lO3ieBA</a:t>
            </a:r>
            <a:endParaRPr/>
          </a:p>
        </p:txBody>
      </p:sp>
      <p:pic>
        <p:nvPicPr>
          <p:cNvPr descr="From the movie &quot;Pentagon Wars&quot;. Bradley Fighting Vehicle design and development.  Any design engineer will love this scene." id="182" name="Google Shape;182;p28" title="Pentagon Wars - Bradley Fighting Vehicle Evolution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320" y="914400"/>
            <a:ext cx="6400800" cy="361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Lessons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Stakeholders problems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stakeholders with conflicting interests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Meddling stakeholders intervening into the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Requirement problems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Inconsistent requirements (poor quality assurance)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Changing requirements (wandering focus, long project)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creep (from troop carrier to tank)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Product problems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explosion due to lack of focus, rework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Unclear market and wandering purpose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Waterfall Model [1]</a:t>
            </a:r>
            <a:endParaRPr/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5725" y="914400"/>
            <a:ext cx="5792542" cy="365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Royce, W. W. (1970). Managing the development of large software systems. Proceedings of IEEE WESCON. Los Angeles, 328-388.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Lesson From Plan-Driven Development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74320" y="914400"/>
            <a:ext cx="8595300" cy="365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chemeClr val="accent6"/>
                </a:solidFill>
              </a:rPr>
              <a:t>Phases ≠ Activities</a:t>
            </a:r>
            <a:endParaRPr b="1" sz="3200">
              <a:solidFill>
                <a:schemeClr val="accent6"/>
              </a:solidFill>
            </a:endParaRPr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Agile Methods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Methods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</a:t>
            </a:r>
            <a:r>
              <a:rPr lang="en"/>
              <a:t> methods are a category of software development methodologies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Defined in opposition to plan-driven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Driven by consultants as a significant business opportunity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key idea of agile methods is to have a fast feedback loop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Steer, don’t plan and blindly execute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Codified as the agile manifesto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 agile methodologies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Scrum, XP, the Crystal Methods, Feature Driven Development</a:t>
            </a:r>
            <a:endParaRPr/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the Agile Manifesto [1]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Individuals and interactions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 processes and tools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Working software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 comprehensive documentation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Customer collaboration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 contract negotiation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Responding to change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 following a plan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24" name="Google Shape;224;p3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https://agilemanifesto.org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Development Process</a:t>
            </a:r>
            <a:endParaRPr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Succession of equal-length iterations (“time-boxes”, “sprints”)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Intervention points are during planning and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feedback only available during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32" name="Google Shape;232;p35"/>
          <p:cNvSpPr txBox="1"/>
          <p:nvPr/>
        </p:nvSpPr>
        <p:spPr>
          <a:xfrm>
            <a:off x="0" y="4242816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= Planning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= E</a:t>
            </a:r>
            <a:r>
              <a:rPr lang="en"/>
              <a:t>xecution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 = Review, release, and retrospective</a:t>
            </a:r>
            <a:endParaRPr/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28800"/>
            <a:ext cx="9144000" cy="195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Fast Feedback Loops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 iterations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iterations lead to focus on high-value features first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Established well-worn rhythm is sustainable, avoids burnout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Partial functionality is better than none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User feedback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feedback helps steer project or product to meet user needs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Feedback loop ensures that problems surface early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Feedback helps recognize and realize new innovative features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Plan-Driven vs. Agile Processes </a:t>
            </a:r>
            <a:endParaRPr/>
          </a:p>
        </p:txBody>
      </p:sp>
      <p:sp>
        <p:nvSpPr>
          <p:cNvPr id="246" name="Google Shape;246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Plan-Driven vs. Agile Work Rhythms</a:t>
            </a:r>
            <a:endParaRPr/>
          </a:p>
        </p:txBody>
      </p:sp>
      <p:sp>
        <p:nvSpPr>
          <p:cNvPr id="253" name="Google Shape;253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54" name="Google Shape;25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Agile Methods Lead to Cowboy Coding?</a:t>
            </a:r>
            <a:endParaRPr/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274320" y="914400"/>
            <a:ext cx="8595300" cy="365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chemeClr val="accent6"/>
                </a:solidFill>
              </a:rPr>
              <a:t>Agile methods are high discipline</a:t>
            </a:r>
            <a:endParaRPr b="1" sz="3200">
              <a:solidFill>
                <a:schemeClr val="accent6"/>
              </a:solidFill>
            </a:endParaRPr>
          </a:p>
        </p:txBody>
      </p:sp>
      <p:sp>
        <p:nvSpPr>
          <p:cNvPr id="261" name="Google Shape;261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Scrum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[1]</a:t>
            </a:r>
            <a:endParaRPr/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is an agile method (framework) invented around 1993, 1995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a </a:t>
            </a:r>
            <a:r>
              <a:rPr lang="en"/>
              <a:t>minimal</a:t>
            </a:r>
            <a:r>
              <a:rPr lang="en"/>
              <a:t> (agile) process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applicable to any domain, not just software development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74" name="Google Shape;274;p41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Schwaber, K., &amp; Sutherland, J. (2020). The scrum guide. Web-published.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Roles / Scrum Team [1]</a:t>
            </a:r>
            <a:endParaRPr/>
          </a:p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sp>
        <p:nvSpPr>
          <p:cNvPr id="281" name="Google Shape;281;p4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The Scrum team is one Scrum Master, one product owner, software developers</a:t>
            </a:r>
            <a:endParaRPr/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Committed roles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 owner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developer(s)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Scrum Master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Involved roles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Sponsor / funder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Regulators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Committed vs. Involved Roles</a:t>
            </a:r>
            <a:endParaRPr/>
          </a:p>
        </p:txBody>
      </p:sp>
      <p:sp>
        <p:nvSpPr>
          <p:cNvPr id="289" name="Google Shape;289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 Roles to Posts</a:t>
            </a:r>
            <a:endParaRPr/>
          </a:p>
        </p:txBody>
      </p:sp>
      <p:sp>
        <p:nvSpPr>
          <p:cNvPr id="295" name="Google Shape;295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96" name="Google Shape;29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/ Posts Correspondence</a:t>
            </a:r>
            <a:endParaRPr/>
          </a:p>
        </p:txBody>
      </p:sp>
      <p:sp>
        <p:nvSpPr>
          <p:cNvPr id="302" name="Google Shape;302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303" name="Google Shape;303;p45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{4A820128-D6B8-4FC8-A9EA-7671F36084BA}</a:tableStyleId>
              </a:tblPr>
              <a:tblGrid>
                <a:gridCol w="2865125"/>
                <a:gridCol w="2865125"/>
                <a:gridCol w="2865125"/>
              </a:tblGrid>
              <a:tr h="9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Scrum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Custom projects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(consulting firms)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Product development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(vendors)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owner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manager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Product manager</a:t>
                      </a:r>
                      <a:br>
                        <a:rPr lang="en">
                          <a:solidFill>
                            <a:schemeClr val="dk1"/>
                          </a:solidFill>
                        </a:rPr>
                      </a:br>
                      <a:r>
                        <a:rPr lang="en">
                          <a:solidFill>
                            <a:schemeClr val="dk1"/>
                          </a:solidFill>
                        </a:rPr>
                        <a:t>Engineering manager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Software developer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manager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Software developer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Software developer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Engineering manager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Quality assurer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Scrum Master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manager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Engineering manager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(The Scrum Terminology Mess)</a:t>
            </a:r>
            <a:endParaRPr/>
          </a:p>
        </p:txBody>
      </p:sp>
      <p:sp>
        <p:nvSpPr>
          <p:cNvPr id="309" name="Google Shape;309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310" name="Google Shape;310;p4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{4A820128-D6B8-4FC8-A9EA-7671F36084BA}</a:tableStyleId>
              </a:tblPr>
              <a:tblGrid>
                <a:gridCol w="2865125"/>
                <a:gridCol w="2865125"/>
                <a:gridCol w="2865125"/>
              </a:tblGrid>
              <a:tr h="9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Scrum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Custom projects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Product development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owner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Business analyst, Requirements engineer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manager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goal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mission [1]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vision [1]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backlog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Requirements specification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Product requirements document (PRD)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4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This resolution is specific to AMOS, though the terms are generally known and used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Scope / Time Horizons</a:t>
            </a:r>
            <a:endParaRPr/>
          </a:p>
        </p:txBody>
      </p:sp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proper covers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Sprint (weeks)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Arguably implied by Scrum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Releases (months)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Project/product (years)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Further evolutions e.g. SAFe cover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Product life-cycle (years)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Portfolio</a:t>
            </a:r>
            <a:endParaRPr/>
          </a:p>
        </p:txBody>
      </p:sp>
      <p:sp>
        <p:nvSpPr>
          <p:cNvPr id="318" name="Google Shape;318;p4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daily scrum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daily status meeting to sync on problems and upcoming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be kept as short as possible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Committed parties are mandatory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committed parties may speak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else is optional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Discussions are not allowed, but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had one-on-one after the meeting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Scrum Master will follow-up on problems</a:t>
            </a:r>
            <a:endParaRPr/>
          </a:p>
        </p:txBody>
      </p:sp>
      <p:sp>
        <p:nvSpPr>
          <p:cNvPr id="324" name="Google Shape;324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Scrum (a.k.a. Daily Standup)</a:t>
            </a:r>
            <a:endParaRPr/>
          </a:p>
        </p:txBody>
      </p:sp>
      <p:sp>
        <p:nvSpPr>
          <p:cNvPr id="325" name="Google Shape;325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Scrum</a:t>
            </a:r>
            <a:endParaRPr/>
          </a:p>
        </p:txBody>
      </p:sp>
      <p:sp>
        <p:nvSpPr>
          <p:cNvPr id="331" name="Google Shape;331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32" name="Google Shape;33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495" y="914400"/>
            <a:ext cx="6509002" cy="365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Plank</a:t>
            </a:r>
            <a:endParaRPr/>
          </a:p>
        </p:txBody>
      </p:sp>
      <p:sp>
        <p:nvSpPr>
          <p:cNvPr id="338" name="Google Shape;338;p5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39" name="Google Shape;33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500" y="914400"/>
            <a:ext cx="6509002" cy="365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Sprint</a:t>
            </a:r>
            <a:endParaRPr/>
          </a:p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sprint is Scrum’s iteration; it is an equal-length time-box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is a highly structured process with defined feedback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pic>
        <p:nvPicPr>
          <p:cNvPr id="347" name="Google Shape;34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28800"/>
            <a:ext cx="9144000" cy="195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Increment of Value</a:t>
            </a:r>
            <a:endParaRPr/>
          </a:p>
        </p:txBody>
      </p:sp>
      <p:sp>
        <p:nvSpPr>
          <p:cNvPr id="353" name="Google Shape;353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increment of value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added value to current or new artifacts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Increments of value are mainly provided by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Sprints (via sprint release)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Basically, anything that has a definition of done</a:t>
            </a:r>
            <a:endParaRPr/>
          </a:p>
        </p:txBody>
      </p: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Structure</a:t>
            </a:r>
            <a:endParaRPr/>
          </a:p>
        </p:txBody>
      </p:sp>
      <p:sp>
        <p:nvSpPr>
          <p:cNvPr id="360" name="Google Shape;360;p5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61" name="Google Shape;36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4"/>
          <p:cNvSpPr txBox="1"/>
          <p:nvPr/>
        </p:nvSpPr>
        <p:spPr>
          <a:xfrm rot="5400000">
            <a:off x="3383220" y="-1571875"/>
            <a:ext cx="2377500" cy="859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AMOS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team meeting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67" name="Google Shape;367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Meetings</a:t>
            </a:r>
            <a:endParaRPr/>
          </a:p>
        </p:txBody>
      </p:sp>
      <p:sp>
        <p:nvSpPr>
          <p:cNvPr id="368" name="Google Shape;368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Next sprint preparation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Product owner and senior developer groom the product backlog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Sprint review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reviews this sprint’s results, signs off on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Sprint release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decides on sprint release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Sprint retrospective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reviews process, commits to improvements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Sprint planning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discusses upcoming work, </a:t>
            </a:r>
            <a:r>
              <a:rPr lang="en"/>
              <a:t>commits to it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Daily Scrum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Team members update each other on work progress</a:t>
            </a:r>
            <a:endParaRPr/>
          </a:p>
        </p:txBody>
      </p:sp>
      <p:sp>
        <p:nvSpPr>
          <p:cNvPr id="369" name="Google Shape;369;p5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Workstreams</a:t>
            </a:r>
            <a:endParaRPr/>
          </a:p>
        </p:txBody>
      </p:sp>
      <p:sp>
        <p:nvSpPr>
          <p:cNvPr id="375" name="Google Shape;375;p5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376" name="Google Shape;376;p5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roduct management; the product owner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Builds and grooms the product backlog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Answers questions to developers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Software development; software developers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 down backlog items into tasks, self-organize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and implement sprint backlog items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Process improvement; the Scrum Master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Observes problems and opportunities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Facilitates impediments resolution and improvements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Build Process Review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Milestone: Build Process Review</a:t>
            </a:r>
            <a:endParaRPr/>
          </a:p>
        </p:txBody>
      </p:sp>
      <p:sp>
        <p:nvSpPr>
          <p:cNvPr id="387" name="Google Shape;387;p5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expect you to demo a working build and run process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command to trigger and perform a full build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command to start the software for demoing purposes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All of this independently of a particular person’s machine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call arbitrarily on people to show this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Feel free to coordinate with and learn from other teams</a:t>
            </a:r>
            <a:endParaRPr/>
          </a:p>
        </p:txBody>
      </p:sp>
      <p:sp>
        <p:nvSpPr>
          <p:cNvPr id="388" name="Google Shape;388;p5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Discuss Build Input, Pipeline, and Artifacts</a:t>
            </a:r>
            <a:endParaRPr/>
          </a:p>
        </p:txBody>
      </p:sp>
      <p:sp>
        <p:nvSpPr>
          <p:cNvPr id="394" name="Google Shape;394;p5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395" name="Google Shape;39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01" name="Google Shape;401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Software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Plan-driven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Agile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Scrum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process review</a:t>
            </a:r>
            <a:endParaRPr/>
          </a:p>
        </p:txBody>
      </p:sp>
      <p:sp>
        <p:nvSpPr>
          <p:cNvPr id="402" name="Google Shape;402;p5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0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408" name="Google Shape;408;p60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414" name="Google Shape;414;p6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415" name="Google Shape;415;p6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2009-2026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Megawoosh! [1]</a:t>
            </a:r>
            <a:endParaRPr/>
          </a:p>
        </p:txBody>
      </p:sp>
      <p:sp>
        <p:nvSpPr>
          <p:cNvPr id="421" name="Google Shape;421;p6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422" name="Google Shape;422;p62" title="Megawoosh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2689" y="914400"/>
            <a:ext cx="6478622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https://www.youtube.com/watch?v=D7rbiLNf-JI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Lessons [1]</a:t>
            </a:r>
            <a:endParaRPr/>
          </a:p>
        </p:txBody>
      </p:sp>
      <p:sp>
        <p:nvSpPr>
          <p:cNvPr id="429" name="Google Shape;429;p6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430" name="Google Shape;430;p63" title="The making of Megawoosh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5024" y="914400"/>
            <a:ext cx="6473952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https://youtu.be/_n065KE00J0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MO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