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4A23E28-3ACD-4295-A373-06A251A66DE4}">
  <a:tblStyle styleId="{64A23E28-3ACD-4295-A373-06A251A66DE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cd8edd7a55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cd8edd7a55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5665875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5665875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d0eec16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d0eec16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f17014c6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f17014c6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52a3f74d0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52a3f74d0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52a3f74d0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52a3f74d0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2e426526d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2e426526d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92349f439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92349f439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2e426526d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2e426526d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52a3f74d0d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52a3f74d0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2e426526d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2e426526d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2e426526d4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2e426526d4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45ce12502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45ce12502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2e426526d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2e426526d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2e426526d4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2e426526d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2e426526d4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2e426526d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2e426526d4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2e426526d4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2e426526d4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2e426526d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2e426526d4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2e426526d4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2e426526d4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2e426526d4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2e426526d4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2e426526d4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2e426526d4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2e426526d4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2e426526d4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2e426526d4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2e426526d4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2e426526d4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2e426526d4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2e426526d4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2e426526d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2e426526d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2e426526d4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2e426526d4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2e426526d4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2e426526d4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2e426526d4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2e426526d4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2e426526d4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2e426526d4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2e426526d4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2e426526d4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2e426526d4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2e426526d4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2e426526d4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2e426526d4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2e426526d4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2e426526d4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2e426526d4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22e426526d4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2e426526d4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2e426526d4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2e426526d4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2e426526d4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92349f43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92349f43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2e426526d4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22e426526d4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52c562db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52c562db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2e426526d4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2e426526d4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2e426526d4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2e426526d4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2e426526d4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22e426526d4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2e426526d4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2e426526d4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2e426526d4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2e426526d4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5b0dbeb2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5b0dbeb2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5b0dbeb2f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25b0dbeb2f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2e426526d4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22e426526d4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1e1c0ffff1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1e1c0ffff1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e1c0ffff1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1e1c0ffff1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uni1.de/amo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uni1.de/amos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uni1.de/amo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0" y="2388810"/>
            <a:ext cx="9144000" cy="183000"/>
            <a:chOff x="0" y="2388810"/>
            <a:chExt cx="9144000" cy="183000"/>
          </a:xfrm>
        </p:grpSpPr>
        <p:sp>
          <p:nvSpPr>
            <p:cNvPr id="13" name="Google Shape;13;p2"/>
            <p:cNvSpPr/>
            <p:nvPr/>
          </p:nvSpPr>
          <p:spPr>
            <a:xfrm>
              <a:off x="0" y="2388810"/>
              <a:ext cx="914400" cy="18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914400" y="2388810"/>
              <a:ext cx="1828800" cy="18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743200" y="2388810"/>
              <a:ext cx="6400800" cy="183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8" name="Google Shape;18;p3"/>
          <p:cNvGrpSpPr/>
          <p:nvPr/>
        </p:nvGrpSpPr>
        <p:grpSpPr>
          <a:xfrm>
            <a:off x="0" y="2432304"/>
            <a:ext cx="9144000" cy="91500"/>
            <a:chOff x="0" y="2386584"/>
            <a:chExt cx="9144000" cy="91500"/>
          </a:xfrm>
        </p:grpSpPr>
        <p:sp>
          <p:nvSpPr>
            <p:cNvPr id="19" name="Google Shape;19;p3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26" name="Google Shape;26;p4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27" name="Google Shape;27;p4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35" name="Google Shape;35;p5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36" name="Google Shape;36;p5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42" name="Google Shape;42;p6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43" name="Google Shape;43;p6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3" name="Google Shape;53;p9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54" name="Google Shape;54;p9"/>
          <p:cNvGrpSpPr/>
          <p:nvPr/>
        </p:nvGrpSpPr>
        <p:grpSpPr>
          <a:xfrm>
            <a:off x="0" y="2388810"/>
            <a:ext cx="9144000" cy="183000"/>
            <a:chOff x="0" y="2388810"/>
            <a:chExt cx="9144000" cy="183000"/>
          </a:xfrm>
        </p:grpSpPr>
        <p:sp>
          <p:nvSpPr>
            <p:cNvPr id="55" name="Google Shape;55;p9"/>
            <p:cNvSpPr/>
            <p:nvPr/>
          </p:nvSpPr>
          <p:spPr>
            <a:xfrm>
              <a:off x="0" y="2388810"/>
              <a:ext cx="914400" cy="18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9"/>
            <p:cNvSpPr/>
            <p:nvPr/>
          </p:nvSpPr>
          <p:spPr>
            <a:xfrm>
              <a:off x="914400" y="2388810"/>
              <a:ext cx="1828800" cy="18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9"/>
            <p:cNvSpPr/>
            <p:nvPr/>
          </p:nvSpPr>
          <p:spPr>
            <a:xfrm>
              <a:off x="2743200" y="2388810"/>
              <a:ext cx="6400800" cy="183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60" name="Google Shape;60;p10"/>
          <p:cNvGrpSpPr/>
          <p:nvPr/>
        </p:nvGrpSpPr>
        <p:grpSpPr>
          <a:xfrm>
            <a:off x="0" y="2432304"/>
            <a:ext cx="9144000" cy="91500"/>
            <a:chOff x="0" y="2386584"/>
            <a:chExt cx="9144000" cy="91500"/>
          </a:xfrm>
        </p:grpSpPr>
        <p:sp>
          <p:nvSpPr>
            <p:cNvPr id="61" name="Google Shape;61;p10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0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0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https://uni1.de/amos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68" name="Google Shape;68;p11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69" name="Google Shape;69;p11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1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1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https://uni1.de/amos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77" name="Google Shape;77;p12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78" name="Google Shape;78;p12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2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2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https://uni1.de/amos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84" name="Google Shape;84;p13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85" name="Google Shape;85;p13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s://oss.cs.fau.de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hyperlink" Target="https://uni1.de/amos" TargetMode="Externa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2"/>
                </a:solidFill>
              </a:defRPr>
            </a:lvl1pPr>
            <a:lvl2pPr lvl="1" rtl="0" algn="r">
              <a:buNone/>
              <a:defRPr b="1" sz="2400">
                <a:solidFill>
                  <a:schemeClr val="dk2"/>
                </a:solidFill>
              </a:defRPr>
            </a:lvl2pPr>
            <a:lvl3pPr lvl="2" rtl="0" algn="r">
              <a:buNone/>
              <a:defRPr b="1" sz="2400">
                <a:solidFill>
                  <a:schemeClr val="dk2"/>
                </a:solidFill>
              </a:defRPr>
            </a:lvl3pPr>
            <a:lvl4pPr lvl="3" rtl="0" algn="r">
              <a:buNone/>
              <a:defRPr b="1" sz="2400">
                <a:solidFill>
                  <a:schemeClr val="dk2"/>
                </a:solidFill>
              </a:defRPr>
            </a:lvl4pPr>
            <a:lvl5pPr lvl="4" rtl="0" algn="r">
              <a:buNone/>
              <a:defRPr b="1" sz="2400">
                <a:solidFill>
                  <a:schemeClr val="dk2"/>
                </a:solidFill>
              </a:defRPr>
            </a:lvl5pPr>
            <a:lvl6pPr lvl="5" rtl="0" algn="r">
              <a:buNone/>
              <a:defRPr b="1" sz="2400">
                <a:solidFill>
                  <a:schemeClr val="dk2"/>
                </a:solidFill>
              </a:defRPr>
            </a:lvl6pPr>
            <a:lvl7pPr lvl="6" rtl="0" algn="r">
              <a:buNone/>
              <a:defRPr b="1" sz="2400">
                <a:solidFill>
                  <a:schemeClr val="dk2"/>
                </a:solidFill>
              </a:defRPr>
            </a:lvl7pPr>
            <a:lvl8pPr lvl="7" rtl="0" algn="r">
              <a:buNone/>
              <a:defRPr b="1" sz="2400">
                <a:solidFill>
                  <a:schemeClr val="dk2"/>
                </a:solidFill>
              </a:defRPr>
            </a:lvl8pPr>
            <a:lvl9pPr lvl="8" rtl="0" algn="r">
              <a:buNone/>
              <a:defRPr b="1" sz="24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1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2"/>
                </a:solidFill>
              </a:defRPr>
            </a:lvl1pPr>
            <a:lvl2pPr lvl="1" rtl="0" algn="r">
              <a:buNone/>
              <a:defRPr b="1" sz="2400">
                <a:solidFill>
                  <a:schemeClr val="dk2"/>
                </a:solidFill>
              </a:defRPr>
            </a:lvl2pPr>
            <a:lvl3pPr lvl="2" rtl="0" algn="r">
              <a:buNone/>
              <a:defRPr b="1" sz="2400">
                <a:solidFill>
                  <a:schemeClr val="dk2"/>
                </a:solidFill>
              </a:defRPr>
            </a:lvl3pPr>
            <a:lvl4pPr lvl="3" rtl="0" algn="r">
              <a:buNone/>
              <a:defRPr b="1" sz="2400">
                <a:solidFill>
                  <a:schemeClr val="dk2"/>
                </a:solidFill>
              </a:defRPr>
            </a:lvl4pPr>
            <a:lvl5pPr lvl="4" rtl="0" algn="r">
              <a:buNone/>
              <a:defRPr b="1" sz="2400">
                <a:solidFill>
                  <a:schemeClr val="dk2"/>
                </a:solidFill>
              </a:defRPr>
            </a:lvl5pPr>
            <a:lvl6pPr lvl="5" rtl="0" algn="r">
              <a:buNone/>
              <a:defRPr b="1" sz="2400">
                <a:solidFill>
                  <a:schemeClr val="dk2"/>
                </a:solidFill>
              </a:defRPr>
            </a:lvl6pPr>
            <a:lvl7pPr lvl="6" rtl="0" algn="r">
              <a:buNone/>
              <a:defRPr b="1" sz="2400">
                <a:solidFill>
                  <a:schemeClr val="dk2"/>
                </a:solidFill>
              </a:defRPr>
            </a:lvl7pPr>
            <a:lvl8pPr lvl="7" rtl="0" algn="r">
              <a:buNone/>
              <a:defRPr b="1" sz="2400">
                <a:solidFill>
                  <a:schemeClr val="dk2"/>
                </a:solidFill>
              </a:defRPr>
            </a:lvl8pPr>
            <a:lvl9pPr lvl="8" rtl="0" algn="r">
              <a:buNone/>
              <a:defRPr b="1" sz="24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1"/>
              </a:rPr>
              <a:t>https://uni1.de/amos</a:t>
            </a:r>
            <a:r>
              <a:rPr b="0" lang="en" sz="900"/>
              <a:t> </a:t>
            </a:r>
            <a:endParaRPr b="0" sz="9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oss.cs.fau.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oss.cs.fau.d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oss.cs.fau.d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oss.cs.fau.de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oss.cs.fau.d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oss.cs.fau.d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oss.cs.fau.d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oss.cs.fau.de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s://adap.uni1.de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s://en.wikipedia.org/wiki/Ward_Cunningham" TargetMode="External"/><Relationship Id="rId5" Type="http://schemas.openxmlformats.org/officeDocument/2006/relationships/hyperlink" Target="https://youtu.be/_NH_AIOsToo" TargetMode="External"/><Relationship Id="rId6" Type="http://schemas.openxmlformats.org/officeDocument/2006/relationships/hyperlink" Target="http://www.youtube.com/watch?v=_NH_AIOsToo" TargetMode="External"/><Relationship Id="rId7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oss.cs.fau.de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oss.cs.fau.de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oss.cs.fau.de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oss.cs.fau.de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oss.cs.fau.de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oss.cs.fau.de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oss.cs.fau.de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oss.cs.fau.de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oss.cs.fau.de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oss.cs.fau.de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oss.cs.fau.de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oss.cs.fau.de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oss.cs.fau.de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oss.cs.fau.de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1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oss.cs.fau.de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oss.cs.fau.de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oss.cs.fau.de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oss.cs.fau.de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oss.cs.fau.de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oss.cs.fau.de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oss.cs.fau.de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oss.cs.fau.de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Agile Programming</a:t>
            </a:r>
            <a:endParaRPr/>
          </a:p>
        </p:txBody>
      </p:sp>
      <p:sp>
        <p:nvSpPr>
          <p:cNvPr id="94" name="Google Shape;94;p15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AMOS B05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 Service Announcement</a:t>
            </a:r>
            <a:endParaRPr/>
          </a:p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274325" y="914400"/>
            <a:ext cx="8595300" cy="4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Make sure you have registered for the course if you want to receive a grade!</a:t>
            </a:r>
            <a:endParaRPr/>
          </a:p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graphicFrame>
        <p:nvGraphicFramePr>
          <p:cNvPr id="102" name="Google Shape;102;p16"/>
          <p:cNvGraphicFramePr/>
          <p:nvPr/>
        </p:nvGraphicFramePr>
        <p:xfrm>
          <a:off x="27432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{64A23E28-3ACD-4295-A373-06A251A66DE4}</a:tableStyleId>
              </a:tblPr>
              <a:tblGrid>
                <a:gridCol w="2865125"/>
                <a:gridCol w="2865125"/>
                <a:gridCol w="2865125"/>
              </a:tblGrid>
              <a:tr h="75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System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FAU: 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StudOn / Moodle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TUB: ISIS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FUB: …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FAU: 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Campo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TUB: MTS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FUB: …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72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Purpose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Communication with professor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Registration to receive a grade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Content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Courses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Modules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72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Names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AMOS-PO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AMOS-SD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31441, 31451, 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31421, 31431, …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Heads-up for Product Owners</a:t>
            </a:r>
            <a:endParaRPr/>
          </a:p>
        </p:txBody>
      </p:sp>
      <p:sp>
        <p:nvSpPr>
          <p:cNvPr id="108" name="Google Shape;108;p1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sure you have enough feature input from your industry partners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are expected to provide a full release plan for the final release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to adjust it every sprint as knowledge and certainty increase</a:t>
            </a:r>
            <a:endParaRPr/>
          </a:p>
        </p:txBody>
      </p:sp>
      <p:sp>
        <p:nvSpPr>
          <p:cNvPr id="109" name="Google Shape;109;p1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Agile programming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Refactoring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Test-driven development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Code review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Build processes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Mid-project review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Agile Programming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Programming Principles</a:t>
            </a:r>
            <a:endParaRPr/>
          </a:p>
        </p:txBody>
      </p:sp>
      <p:sp>
        <p:nvSpPr>
          <p:cNvPr id="127" name="Google Shape;127;p2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128" name="Google Shape;128;p2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KISS (keep it simple, silly)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YAGNI (you ain’t gonna need it)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DRY (don’t repeat yourself)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Approach a Programming Problem</a:t>
            </a:r>
            <a:endParaRPr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274320" y="914400"/>
            <a:ext cx="8595300" cy="365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381000" lvl="0" marL="34290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b="1" lang="en" sz="2400"/>
              <a:t>Make it run</a:t>
            </a:r>
            <a:endParaRPr b="1" sz="2400"/>
          </a:p>
          <a:p>
            <a:pPr indent="-381000" lvl="0" marL="34290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b="1" lang="en" sz="2400"/>
              <a:t>Make it right</a:t>
            </a:r>
            <a:endParaRPr b="1" sz="2400"/>
          </a:p>
          <a:p>
            <a:pPr indent="-381000" lvl="0" marL="34290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b="1" lang="en" sz="2400"/>
              <a:t>Make it fast</a:t>
            </a:r>
            <a:endParaRPr b="1" sz="2400"/>
          </a:p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Agile Methods are Business-Value-Driven</a:t>
            </a:r>
            <a:endParaRPr/>
          </a:p>
        </p:txBody>
      </p:sp>
      <p:sp>
        <p:nvSpPr>
          <p:cNvPr id="141" name="Google Shape;141;p2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agile methods, software developers work off features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Features must have business value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Features can cut across runtime tiers and code layers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Agile programming is challenging and requires broad competencies</a:t>
            </a:r>
            <a:endParaRPr/>
          </a:p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Collective vs. Individual Code Ownership</a:t>
            </a:r>
            <a:endParaRPr/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Collective code ownership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Everyone is equally responsible for the overall code base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Everyone is both allowed to and should be able to fix anything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Instills a feeling of overall responsibility, ensuring high quality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Individual code ownership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Individuals are responsible for their own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Works best in a distributed setting, e.g. in open source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Agile programming assumes collective code ownership</a:t>
            </a:r>
            <a:endParaRPr/>
          </a:p>
        </p:txBody>
      </p:sp>
      <p:sp>
        <p:nvSpPr>
          <p:cNvPr id="149" name="Google Shape;149;p2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Programming Standards (a.k.a Coding Guidelines)</a:t>
            </a:r>
            <a:endParaRPr/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programming standard</a:t>
            </a:r>
            <a:r>
              <a:rPr lang="en"/>
              <a:t> is a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 of rules and conventions for naming, formatting, and structuring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standard makes it easier to read code written by other people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Nine times out of ten, code is read, not written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Programming standards should be mandatory</a:t>
            </a:r>
            <a:endParaRPr/>
          </a:p>
        </p:txBody>
      </p:sp>
      <p:sp>
        <p:nvSpPr>
          <p:cNvPr id="156" name="Google Shape;156;p2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Professional Language [1]</a:t>
            </a:r>
            <a:endParaRPr/>
          </a:p>
        </p:txBody>
      </p:sp>
      <p:sp>
        <p:nvSpPr>
          <p:cNvPr id="162" name="Google Shape;162;p2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graphicFrame>
        <p:nvGraphicFramePr>
          <p:cNvPr id="163" name="Google Shape;163;p25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{64A23E28-3ACD-4295-A373-06A251A66DE4}</a:tableStyleId>
              </a:tblPr>
              <a:tblGrid>
                <a:gridCol w="2865125"/>
                <a:gridCol w="2865125"/>
                <a:gridCol w="2865125"/>
              </a:tblGrid>
              <a:tr h="54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Query methods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Mutation methods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Helper methods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Get method (getter)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Set method (setter)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Factory method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Boolean query methods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Command method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Cloning method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Comparison method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Initialization method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Assertion method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Conversion method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Finalization method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Logging method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…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…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…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4" name="Google Shape;164;p25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our course on </a:t>
            </a:r>
            <a:r>
              <a:rPr lang="en" u="sng">
                <a:solidFill>
                  <a:schemeClr val="hlink"/>
                </a:solidFill>
                <a:hlinkClick r:id="rId4"/>
              </a:rPr>
              <a:t>advanced design and programming</a:t>
            </a:r>
            <a:r>
              <a:rPr lang="en"/>
              <a:t> (ADAP)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Teams (Dealing With Complexity)</a:t>
            </a:r>
            <a:endParaRPr/>
          </a:p>
        </p:txBody>
      </p:sp>
      <p:sp>
        <p:nvSpPr>
          <p:cNvPr id="170" name="Google Shape;170;p2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171" name="Google Shape;17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Inner-Source Software Development</a:t>
            </a:r>
            <a:endParaRPr/>
          </a:p>
        </p:txBody>
      </p:sp>
      <p:sp>
        <p:nvSpPr>
          <p:cNvPr id="177" name="Google Shape;177;p2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178" name="Google Shape;17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Technical Debt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Ward Cunningham [1] on Technical Debt [2]</a:t>
            </a:r>
            <a:endParaRPr/>
          </a:p>
        </p:txBody>
      </p:sp>
      <p:sp>
        <p:nvSpPr>
          <p:cNvPr id="189" name="Google Shape;189;p2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sp>
        <p:nvSpPr>
          <p:cNvPr id="190" name="Google Shape;190;p29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https://en.wikipedia.org/wiki/Ward_Cunningham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[2] See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https://youtu.be/_NH_AIOsToo</a:t>
            </a:r>
            <a:r>
              <a:rPr lang="en"/>
              <a:t> </a:t>
            </a:r>
            <a:endParaRPr/>
          </a:p>
        </p:txBody>
      </p:sp>
      <p:pic>
        <p:nvPicPr>
          <p:cNvPr id="191" name="Google Shape;191;p29" title="The Debt Metaphor Ward Cunningham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4320" y="914400"/>
            <a:ext cx="6400800" cy="3606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Debt</a:t>
            </a:r>
            <a:endParaRPr/>
          </a:p>
        </p:txBody>
      </p:sp>
      <p:sp>
        <p:nvSpPr>
          <p:cNvPr id="197" name="Google Shape;197;p3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Technical debt</a:t>
            </a:r>
            <a:r>
              <a:rPr lang="en"/>
              <a:t> is a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Lack of quality or comprehensiveness of code that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accept to temporarily speed up development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Until you have to pay back the debt by refactoring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It is a metaphor used to communicate with managers</a:t>
            </a:r>
            <a:endParaRPr/>
          </a:p>
        </p:txBody>
      </p:sp>
      <p:sp>
        <p:nvSpPr>
          <p:cNvPr id="198" name="Google Shape;198;p3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Managing Technical Debt</a:t>
            </a:r>
            <a:endParaRPr/>
          </a:p>
        </p:txBody>
      </p:sp>
      <p:sp>
        <p:nvSpPr>
          <p:cNvPr id="204" name="Google Shape;204;p3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Identify the technical debt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By so called “code smells”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Determine the need to act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By </a:t>
            </a:r>
            <a:r>
              <a:rPr lang="en"/>
              <a:t>correlating</a:t>
            </a:r>
            <a:r>
              <a:rPr lang="en"/>
              <a:t> occurrences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Know how to pay back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By refactoring your code</a:t>
            </a:r>
            <a:endParaRPr/>
          </a:p>
        </p:txBody>
      </p:sp>
      <p:sp>
        <p:nvSpPr>
          <p:cNvPr id="205" name="Google Shape;205;p3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Smells [1]</a:t>
            </a:r>
            <a:endParaRPr/>
          </a:p>
        </p:txBody>
      </p:sp>
      <p:sp>
        <p:nvSpPr>
          <p:cNvPr id="211" name="Google Shape;211;p3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Code smells</a:t>
            </a:r>
            <a:r>
              <a:rPr lang="en"/>
              <a:t> are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Identifiable structures in code that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Violate established design principles and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Reduce overall code quality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Code smells are not bugs (the code works, it just … smells)</a:t>
            </a:r>
            <a:endParaRPr/>
          </a:p>
        </p:txBody>
      </p:sp>
      <p:sp>
        <p:nvSpPr>
          <p:cNvPr id="212" name="Google Shape;212;p3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213" name="Google Shape;213;p32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Fowler, M. (1999). Refactoring. Addison-Wesley Professional.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Code Smells</a:t>
            </a:r>
            <a:endParaRPr/>
          </a:p>
        </p:txBody>
      </p:sp>
      <p:sp>
        <p:nvSpPr>
          <p:cNvPr id="219" name="Google Shape;219;p3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Duplicate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Long method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Large class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…</a:t>
            </a:r>
            <a:endParaRPr/>
          </a:p>
        </p:txBody>
      </p:sp>
      <p:sp>
        <p:nvSpPr>
          <p:cNvPr id="220" name="Google Shape;220;p3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“Three Strikes” Rule</a:t>
            </a:r>
            <a:endParaRPr/>
          </a:p>
        </p:txBody>
      </p:sp>
      <p:sp>
        <p:nvSpPr>
          <p:cNvPr id="226" name="Google Shape;226;p34"/>
          <p:cNvSpPr txBox="1"/>
          <p:nvPr>
            <p:ph idx="1" type="body"/>
          </p:nvPr>
        </p:nvSpPr>
        <p:spPr>
          <a:xfrm>
            <a:off x="274320" y="914400"/>
            <a:ext cx="8595300" cy="365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20116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First time: 		</a:t>
            </a:r>
            <a:r>
              <a:rPr b="1" lang="en" sz="2400"/>
              <a:t>Just do it</a:t>
            </a:r>
            <a:endParaRPr b="1" sz="2400"/>
          </a:p>
          <a:p>
            <a:pPr indent="0" lvl="0" marL="201168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/>
              <a:t>Second time: 	</a:t>
            </a:r>
            <a:r>
              <a:rPr b="1" lang="en" sz="2400"/>
              <a:t>Wince at duplication</a:t>
            </a:r>
            <a:endParaRPr b="1" sz="2400"/>
          </a:p>
          <a:p>
            <a:pPr indent="0" lvl="0" marL="201168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/>
              <a:t>Third time: 		</a:t>
            </a:r>
            <a:r>
              <a:rPr b="1" lang="en" sz="2400"/>
              <a:t>Refactor</a:t>
            </a:r>
            <a:endParaRPr b="1" sz="2400"/>
          </a:p>
        </p:txBody>
      </p:sp>
      <p:sp>
        <p:nvSpPr>
          <p:cNvPr id="227" name="Google Shape;227;p3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Refactoring</a:t>
            </a:r>
            <a:endParaRPr/>
          </a:p>
        </p:txBody>
      </p:sp>
      <p:sp>
        <p:nvSpPr>
          <p:cNvPr id="233" name="Google Shape;233;p3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refactoring</a:t>
            </a:r>
            <a:r>
              <a:rPr lang="en"/>
              <a:t> is a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Behavior-preserving transformation of code (with the goal of improving it)</a:t>
            </a:r>
            <a:endParaRPr/>
          </a:p>
        </p:txBody>
      </p:sp>
      <p:sp>
        <p:nvSpPr>
          <p:cNvPr id="234" name="Google Shape;234;p3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Refactoring Process (“Two Hats”)</a:t>
            </a:r>
            <a:endParaRPr/>
          </a:p>
        </p:txBody>
      </p:sp>
      <p:sp>
        <p:nvSpPr>
          <p:cNvPr id="240" name="Google Shape;240;p3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241" name="Google Shape;24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Refactorings</a:t>
            </a:r>
            <a:endParaRPr/>
          </a:p>
        </p:txBody>
      </p:sp>
      <p:sp>
        <p:nvSpPr>
          <p:cNvPr id="247" name="Google Shape;247;p3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Extract method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Pull up field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Form template method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Decompose conditional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Extract class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Extract subclass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Extract interface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…</a:t>
            </a:r>
            <a:endParaRPr/>
          </a:p>
        </p:txBody>
      </p:sp>
      <p:sp>
        <p:nvSpPr>
          <p:cNvPr id="248" name="Google Shape;248;p3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Smell Removal by Refactoring</a:t>
            </a:r>
            <a:endParaRPr/>
          </a:p>
        </p:txBody>
      </p:sp>
      <p:sp>
        <p:nvSpPr>
          <p:cNvPr id="254" name="Google Shape;254;p3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 </a:t>
            </a:r>
            <a:r>
              <a:rPr b="1" lang="en">
                <a:solidFill>
                  <a:schemeClr val="accent6"/>
                </a:solidFill>
              </a:rPr>
              <a:t>Duplicated Code</a:t>
            </a:r>
            <a:r>
              <a:rPr lang="en"/>
              <a:t> by </a:t>
            </a:r>
            <a:r>
              <a:rPr b="1" lang="en">
                <a:solidFill>
                  <a:schemeClr val="accent2"/>
                </a:solidFill>
              </a:rPr>
              <a:t>Extract Method</a:t>
            </a:r>
            <a:r>
              <a:rPr lang="en"/>
              <a:t> or </a:t>
            </a:r>
            <a:r>
              <a:rPr b="1" lang="en">
                <a:solidFill>
                  <a:schemeClr val="accent2"/>
                </a:solidFill>
              </a:rPr>
              <a:t>Pull Up Field</a:t>
            </a:r>
            <a:r>
              <a:rPr lang="en"/>
              <a:t> or …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Remove </a:t>
            </a:r>
            <a:r>
              <a:rPr b="1" lang="en">
                <a:solidFill>
                  <a:schemeClr val="accent6"/>
                </a:solidFill>
              </a:rPr>
              <a:t>Long Method</a:t>
            </a:r>
            <a:r>
              <a:rPr lang="en"/>
              <a:t> by </a:t>
            </a:r>
            <a:r>
              <a:rPr b="1" lang="en">
                <a:solidFill>
                  <a:schemeClr val="accent2"/>
                </a:solidFill>
              </a:rPr>
              <a:t>Extract Method</a:t>
            </a:r>
            <a:r>
              <a:rPr lang="en"/>
              <a:t> or</a:t>
            </a:r>
            <a:r>
              <a:rPr b="1" lang="en"/>
              <a:t> </a:t>
            </a:r>
            <a:r>
              <a:rPr b="1" lang="en">
                <a:solidFill>
                  <a:schemeClr val="accent2"/>
                </a:solidFill>
              </a:rPr>
              <a:t>Decompose Conditional</a:t>
            </a:r>
            <a:r>
              <a:rPr lang="en"/>
              <a:t> or 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Remove </a:t>
            </a:r>
            <a:r>
              <a:rPr b="1" lang="en">
                <a:solidFill>
                  <a:schemeClr val="accent6"/>
                </a:solidFill>
              </a:rPr>
              <a:t>Large Class</a:t>
            </a:r>
            <a:r>
              <a:rPr lang="en"/>
              <a:t> by </a:t>
            </a:r>
            <a:r>
              <a:rPr b="1" lang="en">
                <a:solidFill>
                  <a:schemeClr val="accent2"/>
                </a:solidFill>
              </a:rPr>
              <a:t>Extract Class</a:t>
            </a:r>
            <a:r>
              <a:rPr lang="en"/>
              <a:t> or </a:t>
            </a:r>
            <a:r>
              <a:rPr b="1" lang="en">
                <a:solidFill>
                  <a:schemeClr val="accent2"/>
                </a:solidFill>
              </a:rPr>
              <a:t>Extract Subclass</a:t>
            </a:r>
            <a:r>
              <a:rPr lang="en"/>
              <a:t> or 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IDEs Readily Support (Some) Refactorings</a:t>
            </a:r>
            <a:endParaRPr/>
          </a:p>
        </p:txBody>
      </p:sp>
      <p:sp>
        <p:nvSpPr>
          <p:cNvPr id="261" name="Google Shape;261;p3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262" name="Google Shape;262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7315202" cy="4138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0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Test-Driven Development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Terminology</a:t>
            </a:r>
            <a:endParaRPr/>
          </a:p>
        </p:txBody>
      </p:sp>
      <p:sp>
        <p:nvSpPr>
          <p:cNvPr id="273" name="Google Shape;273;p4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is a process for assessing correct operation according to a specification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test is the instructions to perform a specific assessment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Component tests (unit tests) test a particular component in isolation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Acceptance tests (functional tests) test a cross-cutting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Integration tests (end-to-end tests) test the interaction of several components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Tests can be automated or manually performed</a:t>
            </a:r>
            <a:endParaRPr/>
          </a:p>
        </p:txBody>
      </p:sp>
      <p:sp>
        <p:nvSpPr>
          <p:cNvPr id="274" name="Google Shape;274;p4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Test-First Programming</a:t>
            </a:r>
            <a:endParaRPr/>
          </a:p>
        </p:txBody>
      </p:sp>
      <p:sp>
        <p:nvSpPr>
          <p:cNvPr id="280" name="Google Shape;280;p42"/>
          <p:cNvSpPr txBox="1"/>
          <p:nvPr>
            <p:ph idx="4294967295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Test-first programming</a:t>
            </a:r>
            <a:r>
              <a:rPr lang="en"/>
              <a:t> is the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Practice of first writing a test and then making the system pass the test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282" name="Google Shape;28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828800"/>
            <a:ext cx="9144000" cy="1955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Rules of Test-first Programming</a:t>
            </a:r>
            <a:endParaRPr/>
          </a:p>
        </p:txBody>
      </p:sp>
      <p:sp>
        <p:nvSpPr>
          <p:cNvPr id="288" name="Google Shape;288;p4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Only write new code if a test fails, then eliminate waste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Red, green, refactor</a:t>
            </a:r>
            <a:endParaRPr/>
          </a:p>
        </p:txBody>
      </p:sp>
      <p:sp>
        <p:nvSpPr>
          <p:cNvPr id="289" name="Google Shape;289;p4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Test-Driven Development</a:t>
            </a:r>
            <a:endParaRPr/>
          </a:p>
        </p:txBody>
      </p:sp>
      <p:sp>
        <p:nvSpPr>
          <p:cNvPr id="295" name="Google Shape;295;p4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Test-driven development</a:t>
            </a:r>
            <a:r>
              <a:rPr lang="en"/>
              <a:t> is a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Minimal development process based on test-first programming</a:t>
            </a:r>
            <a:endParaRPr/>
          </a:p>
        </p:txBody>
      </p:sp>
      <p:sp>
        <p:nvSpPr>
          <p:cNvPr id="296" name="Google Shape;296;p4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Test-Driven Development Process</a:t>
            </a:r>
            <a:endParaRPr/>
          </a:p>
        </p:txBody>
      </p:sp>
      <p:sp>
        <p:nvSpPr>
          <p:cNvPr id="302" name="Google Shape;302;p4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303" name="Google Shape;303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6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Code Review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Review</a:t>
            </a:r>
            <a:endParaRPr/>
          </a:p>
        </p:txBody>
      </p:sp>
      <p:sp>
        <p:nvSpPr>
          <p:cNvPr id="314" name="Google Shape;314;p4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Code review</a:t>
            </a:r>
            <a:r>
              <a:rPr lang="en"/>
              <a:t> is the practice of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Having someone else assess your code for feedback and approval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More formally, a code review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systematic examination [...] of computer source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Common forms of code review are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Pair programming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Walkthroughs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Inspections</a:t>
            </a:r>
            <a:endParaRPr/>
          </a:p>
        </p:txBody>
      </p:sp>
      <p:sp>
        <p:nvSpPr>
          <p:cNvPr id="315" name="Google Shape;315;p4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to Perform Code Reviews</a:t>
            </a:r>
            <a:endParaRPr/>
          </a:p>
        </p:txBody>
      </p:sp>
      <p:sp>
        <p:nvSpPr>
          <p:cNvPr id="321" name="Google Shape;321;p4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As code is written (→ Pair programming)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Before a commit (→ Pre-commit code review)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Before a release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At some other time</a:t>
            </a:r>
            <a:endParaRPr/>
          </a:p>
        </p:txBody>
      </p:sp>
      <p:sp>
        <p:nvSpPr>
          <p:cNvPr id="322" name="Google Shape;322;p4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Pair programming</a:t>
            </a:r>
            <a:r>
              <a:rPr lang="en"/>
              <a:t> is the practice of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people in front of the same display, with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person implementing, i.e. writing code (acting in the moment), and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person reviewing, i.e. watching, thinking, commenting, steering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These are the programmer and the reviewer, also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Driver and co-driver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Pilot and navigator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4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Pair Programming</a:t>
            </a:r>
            <a:endParaRPr/>
          </a:p>
        </p:txBody>
      </p:sp>
      <p:sp>
        <p:nvSpPr>
          <p:cNvPr id="329" name="Google Shape;329;p4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Advice on Pair Programming</a:t>
            </a:r>
            <a:endParaRPr/>
          </a:p>
        </p:txBody>
      </p:sp>
      <p:sp>
        <p:nvSpPr>
          <p:cNvPr id="335" name="Google Shape;335;p5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comfortable partner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Switch roles regularly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Communicate regularly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Don’t force it for small stuff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Don’t overheat, take breaks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Switch </a:t>
            </a:r>
            <a:r>
              <a:rPr lang="en"/>
              <a:t>partners</a:t>
            </a:r>
            <a:r>
              <a:rPr lang="en"/>
              <a:t> at times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5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pic>
        <p:nvPicPr>
          <p:cNvPr id="337" name="Google Shape;337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1840" y="2834640"/>
            <a:ext cx="5577840" cy="1729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1838" y="914400"/>
            <a:ext cx="2743200" cy="1820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26462" y="914400"/>
            <a:ext cx="2743200" cy="18209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Pre-Commit Code Review</a:t>
            </a:r>
            <a:endParaRPr/>
          </a:p>
        </p:txBody>
      </p:sp>
      <p:sp>
        <p:nvSpPr>
          <p:cNvPr id="345" name="Google Shape;345;p5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Pre-commit code review </a:t>
            </a:r>
            <a:r>
              <a:rPr lang="en"/>
              <a:t>is the practice of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Having a peer review code for feedback and approval before it gets committed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benefits of pre-commit code review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Strengthens feeling of collective responsibility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Improves knowledge sharing and teamwork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Catches bugs and problems at the right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Leads to more disciplined developers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Raises overall quality cost-efficiently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Made easy through distributed version </a:t>
            </a:r>
            <a:r>
              <a:rPr lang="en"/>
              <a:t>control</a:t>
            </a:r>
            <a:r>
              <a:rPr lang="en"/>
              <a:t> and merge requests</a:t>
            </a:r>
            <a:endParaRPr/>
          </a:p>
        </p:txBody>
      </p:sp>
      <p:sp>
        <p:nvSpPr>
          <p:cNvPr id="346" name="Google Shape;346;p5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Code Traceability</a:t>
            </a:r>
            <a:endParaRPr/>
          </a:p>
        </p:txBody>
      </p:sp>
      <p:sp>
        <p:nvSpPr>
          <p:cNvPr id="352" name="Google Shape;352;p5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Traceability of something is the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Ability to trace the something back to its roots / predecessors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Traceability</a:t>
            </a:r>
            <a:r>
              <a:rPr lang="en"/>
              <a:t> of source code (a.k.a. post-RS traceability) is the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Ability to </a:t>
            </a:r>
            <a:r>
              <a:rPr lang="en"/>
              <a:t>trace back the source code to the requirement it fulfills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Realized on GitHub by linking pull requests to their issue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Benefits of source code traceability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Makes clear why the code is there in the first place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Helps fulfill standards and certification requirements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Ensures commits are focused / semantically closed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53" name="Google Shape;353;p5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r>
              <a:rPr lang="en"/>
              <a:t>. Build Processes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build process</a:t>
            </a:r>
            <a:r>
              <a:rPr lang="en"/>
              <a:t> is the process of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Creating an installable software from its source artifacts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Quality criteria of a build process are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Fully automated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Reentrant and deterministic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 a defined context independent environment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All build assets need to be managed properly</a:t>
            </a:r>
            <a:endParaRPr/>
          </a:p>
        </p:txBody>
      </p:sp>
      <p:sp>
        <p:nvSpPr>
          <p:cNvPr id="364" name="Google Shape;364;p5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Process</a:t>
            </a:r>
            <a:endParaRPr/>
          </a:p>
        </p:txBody>
      </p:sp>
      <p:sp>
        <p:nvSpPr>
          <p:cNvPr id="365" name="Google Shape;365;p5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Developer </a:t>
            </a:r>
            <a:r>
              <a:rPr lang="en"/>
              <a:t>Responsibilities</a:t>
            </a:r>
            <a:endParaRPr/>
          </a:p>
        </p:txBody>
      </p:sp>
      <p:sp>
        <p:nvSpPr>
          <p:cNvPr id="371" name="Google Shape;371;p5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Don’t break the build (where it affects others)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Only commit code that compiles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Only commit code that passes all tests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Only work in a standardized work environment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5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pic>
        <p:nvPicPr>
          <p:cNvPr id="373" name="Google Shape;373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7476" y="914400"/>
            <a:ext cx="2592153" cy="3657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Integration</a:t>
            </a:r>
            <a:endParaRPr/>
          </a:p>
        </p:txBody>
      </p:sp>
      <p:sp>
        <p:nvSpPr>
          <p:cNvPr id="379" name="Google Shape;379;p5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Continuous integration </a:t>
            </a:r>
            <a:r>
              <a:rPr lang="en"/>
              <a:t>is the practice of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Automatically building and testing the software upon defined triggers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Usually with every commit of a developer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only once per day (nightly builds)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Continuous integration may have different scopes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Depending on the size of the software under development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goal is to always know whether the software is in good working order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faster you can react to an issue, the better (more cost-efficient)</a:t>
            </a:r>
            <a:endParaRPr/>
          </a:p>
        </p:txBody>
      </p:sp>
      <p:sp>
        <p:nvSpPr>
          <p:cNvPr id="380" name="Google Shape;380;p5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Deployment</a:t>
            </a:r>
            <a:endParaRPr/>
          </a:p>
        </p:txBody>
      </p:sp>
      <p:sp>
        <p:nvSpPr>
          <p:cNvPr id="386" name="Google Shape;386;p5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Continuous deployment</a:t>
            </a:r>
            <a:r>
              <a:rPr lang="en"/>
              <a:t> is the practice of not only building and testing but of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Deploying the software into production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Users are the final deciders of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Whether the software does what is expect of 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Continuous deployment requires monitoring the performance of the software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Beyond system tests, you need to watch key metrics of performance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5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Separation of Environments</a:t>
            </a:r>
            <a:endParaRPr/>
          </a:p>
        </p:txBody>
      </p:sp>
      <p:sp>
        <p:nvSpPr>
          <p:cNvPr id="393" name="Google Shape;393;p5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394" name="Google Shape;394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One-time Deliverable: Build Process Video</a:t>
            </a:r>
            <a:endParaRPr/>
          </a:p>
        </p:txBody>
      </p:sp>
      <p:sp>
        <p:nvSpPr>
          <p:cNvPr id="400" name="Google Shape;400;p5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create a recorded from-scratch demonstration of your full build process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If you run a continuous integration process, great! But it is not required</a:t>
            </a:r>
            <a:endParaRPr/>
          </a:p>
        </p:txBody>
      </p:sp>
      <p:sp>
        <p:nvSpPr>
          <p:cNvPr id="401" name="Google Shape;401;p5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0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r>
              <a:rPr lang="en"/>
              <a:t>. Mid-Project Review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Milestone: Mid-Project Review</a:t>
            </a:r>
            <a:endParaRPr/>
          </a:p>
        </p:txBody>
      </p:sp>
      <p:sp>
        <p:nvSpPr>
          <p:cNvPr id="412" name="Google Shape;412;p6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expect you to demo your work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command to start the software for demoing purposes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Have a script for the most common use-case and demo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will call arbitrarily on people in the team to show this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Feel free to coordinate with and learn from other teams</a:t>
            </a:r>
            <a:endParaRPr/>
          </a:p>
        </p:txBody>
      </p:sp>
      <p:sp>
        <p:nvSpPr>
          <p:cNvPr id="413" name="Google Shape;413;p6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419" name="Google Shape;419;p6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Agile programming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Refactoring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Test-driven development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Code review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Build processes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Mid-project review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6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3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426" name="Google Shape;426;p63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432" name="Google Shape;432;p6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433" name="Google Shape;433;p6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Copyright 2009-2026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MOS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4CAF50"/>
      </a:accent3>
      <a:accent4>
        <a:srgbClr val="FEB612"/>
      </a:accent4>
      <a:accent5>
        <a:srgbClr val="F36838"/>
      </a:accent5>
      <a:accent6>
        <a:srgbClr val="8E44AD"/>
      </a:accent6>
      <a:hlink>
        <a:srgbClr val="1E9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SS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4CAF50"/>
      </a:accent3>
      <a:accent4>
        <a:srgbClr val="FEB612"/>
      </a:accent4>
      <a:accent5>
        <a:srgbClr val="F36838"/>
      </a:accent5>
      <a:accent6>
        <a:srgbClr val="8E44AD"/>
      </a:accent6>
      <a:hlink>
        <a:srgbClr val="1E9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