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38976B-422C-4C88-8A64-38ABB796B265}">
  <a:tblStyle styleId="{0C38976B-422C-4C88-8A64-38ABB796B26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55" Type="http://schemas.openxmlformats.org/officeDocument/2006/relationships/slide" Target="slides/slide48.xml"/><Relationship Id="rId10" Type="http://schemas.openxmlformats.org/officeDocument/2006/relationships/slide" Target="slides/slide3.xml"/><Relationship Id="rId54" Type="http://schemas.openxmlformats.org/officeDocument/2006/relationships/slide" Target="slides/slide47.xml"/><Relationship Id="rId13" Type="http://schemas.openxmlformats.org/officeDocument/2006/relationships/slide" Target="slides/slide6.xml"/><Relationship Id="rId57" Type="http://schemas.openxmlformats.org/officeDocument/2006/relationships/slide" Target="slides/slide50.xml"/><Relationship Id="rId12" Type="http://schemas.openxmlformats.org/officeDocument/2006/relationships/slide" Target="slides/slide5.xml"/><Relationship Id="rId56" Type="http://schemas.openxmlformats.org/officeDocument/2006/relationships/slide" Target="slides/slide49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edd7a55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edd7a55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65665875b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65665875b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ad0eec165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ad0eec165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f17014c6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f17014c6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52a3f74d0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52a3f74d0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152a3f74d0d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152a3f74d0d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2e426526d4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22e426526d4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92349f4390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92349f439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2e426526d4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2e426526d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152a3f74d0d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152a3f74d0d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2e426526d4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2e426526d4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2e426526d4_0_2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22e426526d4_0_2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245ce12502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245ce12502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2e426526d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2e426526d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2e426526d4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22e426526d4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22e426526d4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22e426526d4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2e426526d4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2e426526d4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22e426526d4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22e426526d4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2e426526d4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22e426526d4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2e426526d4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22e426526d4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2e426526d4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2e426526d4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2e426526d4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22e426526d4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2e426526d4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22e426526d4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2e426526d4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2e426526d4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2e426526d4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22e426526d4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22e426526d4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22e426526d4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2e426526d4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2e426526d4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2e426526d4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2e426526d4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2e426526d4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22e426526d4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2e426526d4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2e426526d4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22e426526d4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22e426526d4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2e426526d4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22e426526d4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2e426526d4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22e426526d4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2e426526d4_0_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22e426526d4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22e426526d4_0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22e426526d4_0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2e426526d4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22e426526d4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22e426526d4_0_2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22e426526d4_0_2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292349f439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292349f439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2e426526d4_0_1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22e426526d4_0_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152c562dbb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152c562dbb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22e426526d4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22e426526d4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2e426526d4_0_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22e426526d4_0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22e426526d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22e426526d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22e426526d4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22e426526d4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22e426526d4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22e426526d4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5b0dbeb2f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25b0dbeb2f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5b0dbeb2f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25b0dbeb2f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2e426526d4_0_2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2e426526d4_0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1e1c0ffff1d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1e1c0ffff1d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1e1c0ffff1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1e1c0ffff1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adap.uni1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en.wikipedia.org/wiki/Ward_Cunningham" TargetMode="External"/><Relationship Id="rId5" Type="http://schemas.openxmlformats.org/officeDocument/2006/relationships/hyperlink" Target="https://youtu.be/_NH_AIOsToo" TargetMode="External"/><Relationship Id="rId6" Type="http://schemas.openxmlformats.org/officeDocument/2006/relationships/hyperlink" Target="http://www.youtube.com/watch?v=_NH_AIOsToo" TargetMode="External"/><Relationship Id="rId7" Type="http://schemas.openxmlformats.org/officeDocument/2006/relationships/image" Target="../media/image2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9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ss.cs.fau.de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oss.cs.fau.de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Agile Programming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B05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Public Service Announcement</a:t>
            </a:r>
            <a:endParaRPr/>
          </a:p>
        </p:txBody>
      </p:sp>
      <p:sp>
        <p:nvSpPr>
          <p:cNvPr id="100" name="Google Shape;100;p16"/>
          <p:cNvSpPr txBox="1"/>
          <p:nvPr>
            <p:ph idx="1" type="body"/>
          </p:nvPr>
        </p:nvSpPr>
        <p:spPr>
          <a:xfrm>
            <a:off x="274325" y="914400"/>
            <a:ext cx="8595300" cy="45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Make sure you have registered for the course if you want to receive a grade!</a:t>
            </a:r>
            <a:endParaRPr/>
          </a:p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graphicFrame>
        <p:nvGraphicFramePr>
          <p:cNvPr id="102" name="Google Shape;102;p16"/>
          <p:cNvGraphicFramePr/>
          <p:nvPr/>
        </p:nvGraphicFramePr>
        <p:xfrm>
          <a:off x="27432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{0C38976B-422C-4C88-8A64-38ABB796B265}</a:tableStyleId>
              </a:tblPr>
              <a:tblGrid>
                <a:gridCol w="2865125"/>
                <a:gridCol w="2865125"/>
                <a:gridCol w="2865125"/>
              </a:tblGrid>
              <a:tr h="753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System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FAU: 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StudOn / Moodle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TUB: ISIS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FUB: …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FAU: </a:t>
                      </a:r>
                      <a:r>
                        <a:rPr lang="en" sz="1200">
                          <a:solidFill>
                            <a:schemeClr val="dk1"/>
                          </a:solidFill>
                        </a:rPr>
                        <a:t>Campo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TUB: MTS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FUB: …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243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Purpose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Communication with professor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Registration to receive a grade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243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Content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Courses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Modules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243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Names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AMOS-PO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AMOS-SD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31441, 31451, …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31421, 31431, …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Heads-up for Product Owners</a:t>
            </a:r>
            <a:endParaRPr/>
          </a:p>
        </p:txBody>
      </p:sp>
      <p:sp>
        <p:nvSpPr>
          <p:cNvPr id="108" name="Google Shape;108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sure you have enough feature input from your industry partners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are expected to provide a full release plan for the final release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to adjust it every sprint as knowledge and certainty increase</a:t>
            </a:r>
            <a:endParaRPr/>
          </a:p>
        </p:txBody>
      </p:sp>
      <p:sp>
        <p:nvSpPr>
          <p:cNvPr id="109" name="Google Shape;109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15" name="Google Shape;115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Agile programming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Refactoring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Test-driven development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Code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Build processes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Mid-project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Agile Programming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Principles</a:t>
            </a:r>
            <a:endParaRPr/>
          </a:p>
        </p:txBody>
      </p:sp>
      <p:sp>
        <p:nvSpPr>
          <p:cNvPr id="127" name="Google Shape;127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28" name="Google Shape;128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KISS (keep it simple, silly)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YAGNI (you ain’t gonna need it)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DRY (don’t repeat yourself)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Approach a Programming Problem</a:t>
            </a:r>
            <a:endParaRPr/>
          </a:p>
        </p:txBody>
      </p:sp>
      <p:sp>
        <p:nvSpPr>
          <p:cNvPr id="134" name="Google Shape;134;p21"/>
          <p:cNvSpPr txBox="1"/>
          <p:nvPr>
            <p:ph idx="1" type="body"/>
          </p:nvPr>
        </p:nvSpPr>
        <p:spPr>
          <a:xfrm>
            <a:off x="274320" y="914400"/>
            <a:ext cx="8595300" cy="365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-381000" lvl="0" marL="34290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b="1" lang="en" sz="2400"/>
              <a:t>Make it run</a:t>
            </a:r>
            <a:endParaRPr b="1" sz="2400"/>
          </a:p>
          <a:p>
            <a:pPr indent="-381000" lvl="0" marL="34290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b="1" lang="en" sz="2400"/>
              <a:t>Make it right</a:t>
            </a:r>
            <a:endParaRPr b="1" sz="2400"/>
          </a:p>
          <a:p>
            <a:pPr indent="-381000" lvl="0" marL="3429000" rtl="0" algn="l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b="1" lang="en" sz="2400"/>
              <a:t>Make it fast</a:t>
            </a:r>
            <a:endParaRPr b="1" sz="2400"/>
          </a:p>
        </p:txBody>
      </p:sp>
      <p:sp>
        <p:nvSpPr>
          <p:cNvPr id="135" name="Google Shape;135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Agile Methods are Business-Value-Driven</a:t>
            </a:r>
            <a:endParaRPr/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agile methods, software developers work off features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Features must have business value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Features can cut across runtime tiers and code layers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Agile programming is challenging and requires broad competencies</a:t>
            </a:r>
            <a:endParaRPr/>
          </a:p>
        </p:txBody>
      </p:sp>
      <p:sp>
        <p:nvSpPr>
          <p:cNvPr id="142" name="Google Shape;142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Collective vs. Individual Code Ownership</a:t>
            </a:r>
            <a:endParaRPr/>
          </a:p>
        </p:txBody>
      </p:sp>
      <p:sp>
        <p:nvSpPr>
          <p:cNvPr id="148" name="Google Shape;148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Collective code ownership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 is equally responsible for the overall code base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 is both allowed to and should be able to fix anything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Instills a feeling of overall responsibility, ensuring high quality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Individual code ownership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Individuals are responsible for their own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 best in a distributed setting, e.g. in open source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Agile programming assumes collective code ownership</a:t>
            </a:r>
            <a:endParaRPr/>
          </a:p>
        </p:txBody>
      </p:sp>
      <p:sp>
        <p:nvSpPr>
          <p:cNvPr id="149" name="Google Shape;149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Standards (a.k.a Coding Guidelines)</a:t>
            </a:r>
            <a:endParaRPr/>
          </a:p>
        </p:txBody>
      </p:sp>
      <p:sp>
        <p:nvSpPr>
          <p:cNvPr id="155" name="Google Shape;155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programming standard</a:t>
            </a:r>
            <a:r>
              <a:rPr lang="en"/>
              <a:t>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of rules and conventions for naming, formatting, and structuring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standard makes it easier to read code written by other people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Nine times out of ten, code is read, not written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Programming standards should be mandatory</a:t>
            </a:r>
            <a:endParaRPr/>
          </a:p>
        </p:txBody>
      </p:sp>
      <p:sp>
        <p:nvSpPr>
          <p:cNvPr id="156" name="Google Shape;156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Professional Language [1]</a:t>
            </a:r>
            <a:endParaRPr/>
          </a:p>
        </p:txBody>
      </p:sp>
      <p:sp>
        <p:nvSpPr>
          <p:cNvPr id="162" name="Google Shape;162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163" name="Google Shape;163;p25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{0C38976B-422C-4C88-8A64-38ABB796B265}</a:tableStyleId>
              </a:tblPr>
              <a:tblGrid>
                <a:gridCol w="2865125"/>
                <a:gridCol w="2865125"/>
                <a:gridCol w="2865125"/>
              </a:tblGrid>
              <a:tr h="548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Query methods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Mutation methods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Helper methods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Get method (getter)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Set method (setter)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Factory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Boolean query methods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Command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Cloning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Comparison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Initialization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Assertion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Conversion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Finalization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Logging method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64" name="Google Shape;164;p2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our course on </a:t>
            </a:r>
            <a:r>
              <a:rPr lang="en" u="sng">
                <a:solidFill>
                  <a:schemeClr val="hlink"/>
                </a:solidFill>
                <a:hlinkClick r:id="rId4"/>
              </a:rPr>
              <a:t>advanced design and programming</a:t>
            </a:r>
            <a:r>
              <a:rPr lang="en"/>
              <a:t> (ADAP)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Teams (Dealing With Complexity)</a:t>
            </a:r>
            <a:endParaRPr/>
          </a:p>
        </p:txBody>
      </p:sp>
      <p:sp>
        <p:nvSpPr>
          <p:cNvPr id="170" name="Google Shape;170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71" name="Google Shape;17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Inner-Source Software Development</a:t>
            </a:r>
            <a:endParaRPr/>
          </a:p>
        </p:txBody>
      </p:sp>
      <p:sp>
        <p:nvSpPr>
          <p:cNvPr id="177" name="Google Shape;177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78" name="Google Shape;178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Technical Debt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Ward Cunningham [1] on Technical Debt [2]</a:t>
            </a:r>
            <a:endParaRPr/>
          </a:p>
        </p:txBody>
      </p:sp>
      <p:sp>
        <p:nvSpPr>
          <p:cNvPr id="189" name="Google Shape;189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190" name="Google Shape;190;p2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https://en.wikipedia.org/wiki/Ward_Cunningham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</a:t>
            </a:r>
            <a:r>
              <a:rPr lang="en" u="sng">
                <a:solidFill>
                  <a:schemeClr val="hlink"/>
                </a:solidFill>
                <a:hlinkClick r:id="rId5"/>
              </a:rPr>
              <a:t>https://youtu.be/_NH_AIOsToo</a:t>
            </a:r>
            <a:r>
              <a:rPr lang="en"/>
              <a:t> </a:t>
            </a:r>
            <a:endParaRPr/>
          </a:p>
        </p:txBody>
      </p:sp>
      <p:pic>
        <p:nvPicPr>
          <p:cNvPr id="191" name="Google Shape;191;p29" title="The Debt Metaphor Ward Cunningham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4320" y="914400"/>
            <a:ext cx="6400800" cy="36060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 Debt</a:t>
            </a:r>
            <a:endParaRPr/>
          </a:p>
        </p:txBody>
      </p:sp>
      <p:sp>
        <p:nvSpPr>
          <p:cNvPr id="197" name="Google Shape;197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Technical debt</a:t>
            </a:r>
            <a:r>
              <a:rPr lang="en"/>
              <a:t>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Lack of quality or comprehensiveness of code that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accept to temporarily speed up development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Until you have to pay back the debt by refactoring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It is a metaphor used to communicate with managers</a:t>
            </a:r>
            <a:endParaRPr/>
          </a:p>
        </p:txBody>
      </p:sp>
      <p:sp>
        <p:nvSpPr>
          <p:cNvPr id="198" name="Google Shape;198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Managing Technical Debt</a:t>
            </a:r>
            <a:endParaRPr/>
          </a:p>
        </p:txBody>
      </p:sp>
      <p:sp>
        <p:nvSpPr>
          <p:cNvPr id="204" name="Google Shape;204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Identify the technical debt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By so called “code smells”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Determine the need to act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By </a:t>
            </a:r>
            <a:r>
              <a:rPr lang="en"/>
              <a:t>correlating</a:t>
            </a:r>
            <a:r>
              <a:rPr lang="en"/>
              <a:t> occurrences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Know how to pay back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By refactoring your code</a:t>
            </a:r>
            <a:endParaRPr/>
          </a:p>
        </p:txBody>
      </p:sp>
      <p:sp>
        <p:nvSpPr>
          <p:cNvPr id="205" name="Google Shape;205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Smells [1]</a:t>
            </a:r>
            <a:endParaRPr/>
          </a:p>
        </p:txBody>
      </p:sp>
      <p:sp>
        <p:nvSpPr>
          <p:cNvPr id="211" name="Google Shape;211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Code smells</a:t>
            </a:r>
            <a:r>
              <a:rPr lang="en"/>
              <a:t>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Identifiable structures in code that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Violate established design principles 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Reduce overall code quality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Code smells are not bugs (the code works, it just … smells)</a:t>
            </a:r>
            <a:endParaRPr/>
          </a:p>
        </p:txBody>
      </p:sp>
      <p:sp>
        <p:nvSpPr>
          <p:cNvPr id="212" name="Google Shape;212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13" name="Google Shape;213;p3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Fowler, M. (1999). Refactoring. Addison-Wesley Professional.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Smells</a:t>
            </a:r>
            <a:endParaRPr/>
          </a:p>
        </p:txBody>
      </p:sp>
      <p:sp>
        <p:nvSpPr>
          <p:cNvPr id="219" name="Google Shape;219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Duplicate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Long method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Large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…</a:t>
            </a:r>
            <a:endParaRPr/>
          </a:p>
        </p:txBody>
      </p:sp>
      <p:sp>
        <p:nvSpPr>
          <p:cNvPr id="220" name="Google Shape;220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“Three Strikes” Rule</a:t>
            </a:r>
            <a:endParaRPr/>
          </a:p>
        </p:txBody>
      </p:sp>
      <p:sp>
        <p:nvSpPr>
          <p:cNvPr id="226" name="Google Shape;226;p34"/>
          <p:cNvSpPr txBox="1"/>
          <p:nvPr>
            <p:ph idx="1" type="body"/>
          </p:nvPr>
        </p:nvSpPr>
        <p:spPr>
          <a:xfrm>
            <a:off x="274320" y="914400"/>
            <a:ext cx="8595300" cy="365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201168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First time: 		</a:t>
            </a:r>
            <a:r>
              <a:rPr b="1" lang="en" sz="2400"/>
              <a:t>Just do it</a:t>
            </a:r>
            <a:endParaRPr b="1" sz="2400"/>
          </a:p>
          <a:p>
            <a:pPr indent="0" lvl="0" marL="201168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Second time: 	</a:t>
            </a:r>
            <a:r>
              <a:rPr b="1" lang="en" sz="2400"/>
              <a:t>Wince at duplication</a:t>
            </a:r>
            <a:endParaRPr b="1" sz="2400"/>
          </a:p>
          <a:p>
            <a:pPr indent="0" lvl="0" marL="201168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Third time: 		</a:t>
            </a:r>
            <a:r>
              <a:rPr b="1" lang="en" sz="2400"/>
              <a:t>Refactor</a:t>
            </a:r>
            <a:endParaRPr b="1" sz="2400"/>
          </a:p>
        </p:txBody>
      </p:sp>
      <p:sp>
        <p:nvSpPr>
          <p:cNvPr id="227" name="Google Shape;227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Refactoring</a:t>
            </a:r>
            <a:endParaRPr/>
          </a:p>
        </p:txBody>
      </p:sp>
      <p:sp>
        <p:nvSpPr>
          <p:cNvPr id="233" name="Google Shape;233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refactoring</a:t>
            </a:r>
            <a:r>
              <a:rPr lang="en"/>
              <a:t> is a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Behavior-preserving transformation of code (with the goal of improving it)</a:t>
            </a:r>
            <a:endParaRPr/>
          </a:p>
        </p:txBody>
      </p:sp>
      <p:sp>
        <p:nvSpPr>
          <p:cNvPr id="234" name="Google Shape;234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Refactoring Process (“Two Hats”)</a:t>
            </a:r>
            <a:endParaRPr/>
          </a:p>
        </p:txBody>
      </p:sp>
      <p:sp>
        <p:nvSpPr>
          <p:cNvPr id="240" name="Google Shape;240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41" name="Google Shape;241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Refactorings</a:t>
            </a:r>
            <a:endParaRPr/>
          </a:p>
        </p:txBody>
      </p:sp>
      <p:sp>
        <p:nvSpPr>
          <p:cNvPr id="247" name="Google Shape;247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Extract method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Pull up field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Form template method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Decompose conditional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Extract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Extract subclass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Extract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…</a:t>
            </a:r>
            <a:endParaRPr/>
          </a:p>
        </p:txBody>
      </p:sp>
      <p:sp>
        <p:nvSpPr>
          <p:cNvPr id="248" name="Google Shape;248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Smell Removal by Refactoring</a:t>
            </a:r>
            <a:endParaRPr/>
          </a:p>
        </p:txBody>
      </p:sp>
      <p:sp>
        <p:nvSpPr>
          <p:cNvPr id="254" name="Google Shape;254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Remove </a:t>
            </a:r>
            <a:r>
              <a:rPr b="1" lang="en">
                <a:solidFill>
                  <a:schemeClr val="accent6"/>
                </a:solidFill>
              </a:rPr>
              <a:t>Duplicated Code</a:t>
            </a:r>
            <a:r>
              <a:rPr lang="en"/>
              <a:t> by </a:t>
            </a:r>
            <a:r>
              <a:rPr b="1" lang="en">
                <a:solidFill>
                  <a:schemeClr val="accent2"/>
                </a:solidFill>
              </a:rPr>
              <a:t>Extract Method</a:t>
            </a:r>
            <a:r>
              <a:rPr lang="en"/>
              <a:t> or </a:t>
            </a:r>
            <a:r>
              <a:rPr b="1" lang="en">
                <a:solidFill>
                  <a:schemeClr val="accent2"/>
                </a:solidFill>
              </a:rPr>
              <a:t>Pull Up Field</a:t>
            </a:r>
            <a:r>
              <a:rPr lang="en"/>
              <a:t> or …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Remove </a:t>
            </a:r>
            <a:r>
              <a:rPr b="1" lang="en">
                <a:solidFill>
                  <a:schemeClr val="accent6"/>
                </a:solidFill>
              </a:rPr>
              <a:t>Long Method</a:t>
            </a:r>
            <a:r>
              <a:rPr lang="en"/>
              <a:t> by </a:t>
            </a:r>
            <a:r>
              <a:rPr b="1" lang="en">
                <a:solidFill>
                  <a:schemeClr val="accent2"/>
                </a:solidFill>
              </a:rPr>
              <a:t>Extract Method</a:t>
            </a:r>
            <a:r>
              <a:rPr lang="en"/>
              <a:t> or</a:t>
            </a:r>
            <a:r>
              <a:rPr b="1" lang="en"/>
              <a:t> </a:t>
            </a:r>
            <a:r>
              <a:rPr b="1" lang="en">
                <a:solidFill>
                  <a:schemeClr val="accent2"/>
                </a:solidFill>
              </a:rPr>
              <a:t>Decompose Conditional</a:t>
            </a:r>
            <a:r>
              <a:rPr lang="en"/>
              <a:t> or 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Remove </a:t>
            </a:r>
            <a:r>
              <a:rPr b="1" lang="en">
                <a:solidFill>
                  <a:schemeClr val="accent6"/>
                </a:solidFill>
              </a:rPr>
              <a:t>Large Class</a:t>
            </a:r>
            <a:r>
              <a:rPr lang="en"/>
              <a:t> by </a:t>
            </a:r>
            <a:r>
              <a:rPr b="1" lang="en">
                <a:solidFill>
                  <a:schemeClr val="accent2"/>
                </a:solidFill>
              </a:rPr>
              <a:t>Extract Class</a:t>
            </a:r>
            <a:r>
              <a:rPr lang="en"/>
              <a:t> or </a:t>
            </a:r>
            <a:r>
              <a:rPr b="1" lang="en">
                <a:solidFill>
                  <a:schemeClr val="accent2"/>
                </a:solidFill>
              </a:rPr>
              <a:t>Extract Subclass</a:t>
            </a:r>
            <a:r>
              <a:rPr lang="en"/>
              <a:t> or 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IDEs Readily Support (Some) Refactorings</a:t>
            </a:r>
            <a:endParaRPr/>
          </a:p>
        </p:txBody>
      </p:sp>
      <p:sp>
        <p:nvSpPr>
          <p:cNvPr id="261" name="Google Shape;261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62" name="Google Shape;262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2" cy="41387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Test-Driven Development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Terminology</a:t>
            </a:r>
            <a:endParaRPr/>
          </a:p>
        </p:txBody>
      </p:sp>
      <p:sp>
        <p:nvSpPr>
          <p:cNvPr id="273" name="Google Shape;273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is a process for assessing correct operation according to a specification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test is the instructions to perform a specific assessment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Component tests (unit tests) test a particular component in isolation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Acceptance tests (functional tests) test a cross-cutting function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Integration tests (end-to-end tests) test the interaction of several components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Tests can be automated or manually performed</a:t>
            </a:r>
            <a:endParaRPr/>
          </a:p>
        </p:txBody>
      </p:sp>
      <p:sp>
        <p:nvSpPr>
          <p:cNvPr id="274" name="Google Shape;274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Test-First Programming</a:t>
            </a:r>
            <a:endParaRPr/>
          </a:p>
        </p:txBody>
      </p:sp>
      <p:sp>
        <p:nvSpPr>
          <p:cNvPr id="280" name="Google Shape;280;p42"/>
          <p:cNvSpPr txBox="1"/>
          <p:nvPr>
            <p:ph idx="4294967295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Test-first programming</a:t>
            </a:r>
            <a:r>
              <a:rPr lang="en"/>
              <a:t> is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Practice of first writing a test and then making the system pass the test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82" name="Google Shape;282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828800"/>
            <a:ext cx="9144000" cy="19559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of Test-first Programming</a:t>
            </a:r>
            <a:endParaRPr/>
          </a:p>
        </p:txBody>
      </p:sp>
      <p:sp>
        <p:nvSpPr>
          <p:cNvPr id="288" name="Google Shape;288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Only write new code if a test fails, then eliminate waste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Red, green, refactor</a:t>
            </a:r>
            <a:endParaRPr/>
          </a:p>
        </p:txBody>
      </p:sp>
      <p:sp>
        <p:nvSpPr>
          <p:cNvPr id="289" name="Google Shape;289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Test-Driven Development</a:t>
            </a:r>
            <a:endParaRPr/>
          </a:p>
        </p:txBody>
      </p:sp>
      <p:sp>
        <p:nvSpPr>
          <p:cNvPr id="295" name="Google Shape;295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Test-driven development</a:t>
            </a:r>
            <a:r>
              <a:rPr lang="en"/>
              <a:t>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Minimal development process based on test-first programming</a:t>
            </a:r>
            <a:endParaRPr/>
          </a:p>
        </p:txBody>
      </p:sp>
      <p:sp>
        <p:nvSpPr>
          <p:cNvPr id="296" name="Google Shape;296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Test-Driven Development Process</a:t>
            </a:r>
            <a:endParaRPr/>
          </a:p>
        </p:txBody>
      </p:sp>
      <p:sp>
        <p:nvSpPr>
          <p:cNvPr id="302" name="Google Shape;302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03" name="Google Shape;303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Code Review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Review</a:t>
            </a:r>
            <a:endParaRPr/>
          </a:p>
        </p:txBody>
      </p:sp>
      <p:sp>
        <p:nvSpPr>
          <p:cNvPr id="314" name="Google Shape;314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Code review</a:t>
            </a:r>
            <a:r>
              <a:rPr lang="en"/>
              <a:t> is the practice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Having someone else assess your code for feedback and approval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More formally, a code review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systematic examination [...] of computer source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forms of code review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Pair programming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Walkthroughs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Inspections</a:t>
            </a:r>
            <a:endParaRPr/>
          </a:p>
        </p:txBody>
      </p:sp>
      <p:sp>
        <p:nvSpPr>
          <p:cNvPr id="315" name="Google Shape;315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to Perform Code Reviews</a:t>
            </a:r>
            <a:endParaRPr/>
          </a:p>
        </p:txBody>
      </p:sp>
      <p:sp>
        <p:nvSpPr>
          <p:cNvPr id="321" name="Google Shape;321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As code is written (→ Pair programming)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Before a commit (→ Pre-commit code review)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Before a release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At some other time</a:t>
            </a:r>
            <a:endParaRPr/>
          </a:p>
        </p:txBody>
      </p:sp>
      <p:sp>
        <p:nvSpPr>
          <p:cNvPr id="322" name="Google Shape;322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Pair programming</a:t>
            </a:r>
            <a:r>
              <a:rPr lang="en"/>
              <a:t> is the practice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Two people in front of the same display, with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person implementing, i.e. writing code (acting in the moment), 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person reviewing, i.e. watching, thinking, commenting, steering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These are the programmer and the reviewer, also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Driver and co-driver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Pilot and navigator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Pair Programming</a:t>
            </a:r>
            <a:endParaRPr/>
          </a:p>
        </p:txBody>
      </p:sp>
      <p:sp>
        <p:nvSpPr>
          <p:cNvPr id="329" name="Google Shape;329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Advice on Pair Programming</a:t>
            </a:r>
            <a:endParaRPr/>
          </a:p>
        </p:txBody>
      </p:sp>
      <p:sp>
        <p:nvSpPr>
          <p:cNvPr id="335" name="Google Shape;335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comfortable partner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Switch roles regularly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Communicate regularly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Don’t force it for small stuff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Don’t overheat, take breaks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Switch </a:t>
            </a:r>
            <a:r>
              <a:rPr lang="en"/>
              <a:t>partners</a:t>
            </a:r>
            <a:r>
              <a:rPr lang="en"/>
              <a:t> at times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337" name="Google Shape;337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91840" y="2834640"/>
            <a:ext cx="5577840" cy="17291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5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91838" y="914400"/>
            <a:ext cx="2743200" cy="1820917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26462" y="914400"/>
            <a:ext cx="2743200" cy="18209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Pre-Commit Code Review</a:t>
            </a:r>
            <a:endParaRPr/>
          </a:p>
        </p:txBody>
      </p:sp>
      <p:sp>
        <p:nvSpPr>
          <p:cNvPr id="345" name="Google Shape;345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Pre-commit code review </a:t>
            </a:r>
            <a:r>
              <a:rPr lang="en"/>
              <a:t>is the practice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Having a peer review code for feedback and approval before it gets committed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benefits of pre-commit code review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Strengthens feeling of collective responsibility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Improves knowledge sharing and teamwork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Catches bugs and problems at the right time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to more disciplined developers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Raises overall quality cost-efficiently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Made easy through distributed version </a:t>
            </a:r>
            <a:r>
              <a:rPr lang="en"/>
              <a:t>control</a:t>
            </a:r>
            <a:r>
              <a:rPr lang="en"/>
              <a:t> and merge requests</a:t>
            </a:r>
            <a:endParaRPr/>
          </a:p>
        </p:txBody>
      </p:sp>
      <p:sp>
        <p:nvSpPr>
          <p:cNvPr id="346" name="Google Shape;346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 Traceability</a:t>
            </a:r>
            <a:endParaRPr/>
          </a:p>
        </p:txBody>
      </p:sp>
      <p:sp>
        <p:nvSpPr>
          <p:cNvPr id="352" name="Google Shape;352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Traceability of something is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Ability to trace the something back to its roots / predecessors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Traceability</a:t>
            </a:r>
            <a:r>
              <a:rPr lang="en"/>
              <a:t> of source code (a.k.a. post-RS traceability) is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Ability to </a:t>
            </a:r>
            <a:r>
              <a:rPr lang="en"/>
              <a:t>trace back the source code to the requirement it fulfills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Realized on GitHub by linking pull requests to their issue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Benefits of source code traceability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Makes clear why the code is there in the first place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Helps fulfill standards and certification requirements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Ensures commits are focused / semantically closed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353" name="Google Shape;353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</a:t>
            </a:r>
            <a:r>
              <a:rPr lang="en"/>
              <a:t>. Build Processes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build process</a:t>
            </a:r>
            <a:r>
              <a:rPr lang="en"/>
              <a:t> is the process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Creating an installable software from its source artifacts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Quality criteria of a build process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Fully automated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Reentrant and deterministic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 a defined context independent environment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All build assets need to be managed properly</a:t>
            </a:r>
            <a:endParaRPr/>
          </a:p>
        </p:txBody>
      </p:sp>
      <p:sp>
        <p:nvSpPr>
          <p:cNvPr id="364" name="Google Shape;364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 Process</a:t>
            </a:r>
            <a:endParaRPr/>
          </a:p>
        </p:txBody>
      </p:sp>
      <p:sp>
        <p:nvSpPr>
          <p:cNvPr id="365" name="Google Shape;365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Developer </a:t>
            </a:r>
            <a:r>
              <a:rPr lang="en"/>
              <a:t>Responsibilities</a:t>
            </a:r>
            <a:endParaRPr/>
          </a:p>
        </p:txBody>
      </p:sp>
      <p:sp>
        <p:nvSpPr>
          <p:cNvPr id="371" name="Google Shape;371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Don’t break the build (where it affects others)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commit code that compiles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commit code that passes all tests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work in a standardized work environment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373" name="Google Shape;373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77476" y="914400"/>
            <a:ext cx="2592153" cy="3657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Continuous Integration</a:t>
            </a:r>
            <a:endParaRPr/>
          </a:p>
        </p:txBody>
      </p:sp>
      <p:sp>
        <p:nvSpPr>
          <p:cNvPr id="379" name="Google Shape;379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Continuous integration </a:t>
            </a:r>
            <a:r>
              <a:rPr lang="en"/>
              <a:t>is the practice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Automatically building and testing the software upon defined triggers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Usually with every commit of a developer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Sometimes only once per day (nightly builds)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Continuous integration may have different scopes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Depending on the size of the software under development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goal is to always know whether the software is in good working order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faster you can react to an issue, the better (more cost-efficient)</a:t>
            </a:r>
            <a:endParaRPr/>
          </a:p>
        </p:txBody>
      </p:sp>
      <p:sp>
        <p:nvSpPr>
          <p:cNvPr id="380" name="Google Shape;380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Continuous Deployment</a:t>
            </a:r>
            <a:endParaRPr/>
          </a:p>
        </p:txBody>
      </p:sp>
      <p:sp>
        <p:nvSpPr>
          <p:cNvPr id="386" name="Google Shape;386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Continuous deployment</a:t>
            </a:r>
            <a:r>
              <a:rPr lang="en"/>
              <a:t> is the practice of not only building and testing but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Deploying the software into production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Users are the final deciders of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Whether the software does what is expect of 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Continuous deployment requires monitoring the performance of the software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Beyond system tests, you need to watch key metrics of performance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5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Separation of Environments</a:t>
            </a:r>
            <a:endParaRPr/>
          </a:p>
        </p:txBody>
      </p:sp>
      <p:sp>
        <p:nvSpPr>
          <p:cNvPr id="393" name="Google Shape;393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94" name="Google Shape;394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Build Process Video</a:t>
            </a:r>
            <a:endParaRPr/>
          </a:p>
        </p:txBody>
      </p:sp>
      <p:sp>
        <p:nvSpPr>
          <p:cNvPr id="400" name="Google Shape;400;p5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create a recorded from-scratch demonstration of your full build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If you run a continuous integration process, great! But it is not required</a:t>
            </a:r>
            <a:endParaRPr/>
          </a:p>
        </p:txBody>
      </p:sp>
      <p:sp>
        <p:nvSpPr>
          <p:cNvPr id="401" name="Google Shape;401;p5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6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</a:t>
            </a:r>
            <a:r>
              <a:rPr lang="en"/>
              <a:t>. Mid-Project Review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Milestone: Mid-Project Review</a:t>
            </a:r>
            <a:endParaRPr/>
          </a:p>
        </p:txBody>
      </p:sp>
      <p:sp>
        <p:nvSpPr>
          <p:cNvPr id="412" name="Google Shape;412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expect you to demo your 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command to start the software for demoing purposes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a script for the most common use-case and demo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will call arbitrarily on people in the team to show this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Feel free to coordinate with and learn from other teams</a:t>
            </a:r>
            <a:endParaRPr/>
          </a:p>
        </p:txBody>
      </p:sp>
      <p:sp>
        <p:nvSpPr>
          <p:cNvPr id="413" name="Google Shape;413;p6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19" name="Google Shape;419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Agile programming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Refactoring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Test-driven development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Code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Build processes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Mid-project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6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63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26" name="Google Shape;426;p63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6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32" name="Google Shape;432;p6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433" name="Google Shape;433;p6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